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362" r:id="rId4"/>
    <p:sldId id="344" r:id="rId5"/>
    <p:sldId id="345" r:id="rId6"/>
    <p:sldId id="346" r:id="rId7"/>
    <p:sldId id="347" r:id="rId8"/>
    <p:sldId id="348" r:id="rId9"/>
    <p:sldId id="361" r:id="rId10"/>
    <p:sldId id="349" r:id="rId11"/>
    <p:sldId id="350" r:id="rId12"/>
    <p:sldId id="351" r:id="rId13"/>
    <p:sldId id="352" r:id="rId14"/>
    <p:sldId id="353" r:id="rId15"/>
    <p:sldId id="363" r:id="rId16"/>
    <p:sldId id="354" r:id="rId17"/>
    <p:sldId id="355" r:id="rId18"/>
    <p:sldId id="356" r:id="rId19"/>
    <p:sldId id="357" r:id="rId20"/>
    <p:sldId id="358" r:id="rId21"/>
    <p:sldId id="265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99"/>
    <a:srgbClr val="FF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69" d="100"/>
          <a:sy n="69" d="100"/>
        </p:scale>
        <p:origin x="690" y="5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CC99">
            <a:alpha val="2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SQL &amp; Python Business Analytics Project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SQL &amp; Python Data Analytics Project</a:t>
            </a:r>
          </a:p>
          <a:p>
            <a:r>
              <a:t>Insights &amp; Visual Analysis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Objective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Solve 15 business problems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Execute queries in SQL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Solve same problems in Python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Validate that outputs are identical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Demonstrate technical accuracy &amp; analytical consistency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DB312-9ECB-348B-870C-7EF001926F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7500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n-US" sz="6000" b="1" dirty="0"/>
              <a:t>BASIC </a:t>
            </a:r>
            <a:br>
              <a:rPr lang="en-US" sz="6000" b="1" dirty="0"/>
            </a:br>
            <a:r>
              <a:rPr lang="en-US" sz="6000" b="1" dirty="0"/>
              <a:t>PROBLEMS</a:t>
            </a:r>
          </a:p>
        </p:txBody>
      </p:sp>
    </p:spTree>
    <p:extLst>
      <p:ext uri="{BB962C8B-B14F-4D97-AF65-F5344CB8AC3E}">
        <p14:creationId xmlns:p14="http://schemas.microsoft.com/office/powerpoint/2010/main" val="4619630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EC0727-E7CA-A146-AFBA-0F74F9C83B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7352"/>
            <a:ext cx="9144000" cy="597559"/>
          </a:xfrm>
        </p:spPr>
        <p:txBody>
          <a:bodyPr>
            <a:normAutofit/>
          </a:bodyPr>
          <a:lstStyle/>
          <a:p>
            <a:r>
              <a:rPr lang="en-US" sz="2800" dirty="0"/>
              <a:t>1) List all unique cities where customers are located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F8AEA6-E68D-C8C1-8BF8-428A2BD004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703386"/>
            <a:ext cx="4038600" cy="5964700"/>
          </a:xfrm>
        </p:spPr>
        <p:txBody>
          <a:bodyPr/>
          <a:lstStyle/>
          <a:p>
            <a:r>
              <a:rPr lang="en-US" dirty="0"/>
              <a:t>SQL Code: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1FE988-9D90-963B-CF73-0B123A203D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703386"/>
            <a:ext cx="4038600" cy="5964700"/>
          </a:xfrm>
        </p:spPr>
        <p:txBody>
          <a:bodyPr/>
          <a:lstStyle/>
          <a:p>
            <a:r>
              <a:rPr lang="en-US" dirty="0"/>
              <a:t>Python Code: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4B24962-E093-ABF3-8DBA-4474910B2E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1" y="1518222"/>
            <a:ext cx="4038600" cy="114057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9F885A3-9795-1E68-6709-82AEE160F1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99" y="2803608"/>
            <a:ext cx="4038600" cy="396295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BDDB0BDD-8148-7A75-A337-4992414F33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8200" y="1223654"/>
            <a:ext cx="4038599" cy="285367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76B4F75-327C-043B-5EA1-AAB0E62CCA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2933" y="6256077"/>
            <a:ext cx="2009132" cy="510484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52D99D37-D16E-23BD-59F4-052AC9D898E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48200" y="4175801"/>
            <a:ext cx="4038599" cy="1978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65775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AE4DB-6FD5-87E9-9672-ABB9112C36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F063E-AE0C-455C-23BD-D367F1DD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31971"/>
            <a:ext cx="9144000" cy="597559"/>
          </a:xfrm>
        </p:spPr>
        <p:txBody>
          <a:bodyPr>
            <a:normAutofit/>
          </a:bodyPr>
          <a:lstStyle/>
          <a:p>
            <a:r>
              <a:rPr lang="en-US" sz="2800" dirty="0"/>
              <a:t>2) Count the number of orders placed in 2017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4492BF-BBF5-2D0E-2778-C396934016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049310"/>
            <a:ext cx="4038600" cy="5618775"/>
          </a:xfrm>
        </p:spPr>
        <p:txBody>
          <a:bodyPr/>
          <a:lstStyle/>
          <a:p>
            <a:r>
              <a:rPr lang="en-US" dirty="0"/>
              <a:t>SQL Code: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FC399-BF07-563D-CEA4-7B0707DBE4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049310"/>
            <a:ext cx="4038600" cy="5618776"/>
          </a:xfrm>
        </p:spPr>
        <p:txBody>
          <a:bodyPr/>
          <a:lstStyle/>
          <a:p>
            <a:r>
              <a:rPr lang="en-US" dirty="0"/>
              <a:t>Python Code: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4A3982A-00FE-32BC-B596-E87393E10A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9141"/>
            <a:ext cx="4114800" cy="209242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C71C56D-2A3D-D3D4-99DE-061A208417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051343"/>
            <a:ext cx="4114800" cy="221454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E1E59DA-AEFB-C51D-983B-4222030CE8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8200" y="3831563"/>
            <a:ext cx="4038598" cy="283652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6A0BC39-5CD5-5EE4-CF67-CBF6F9C388E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8202" y="1760000"/>
            <a:ext cx="4038598" cy="1851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32759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1C7176-E26C-4798-E19C-44041F0192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DC4D6C-EAB1-C6E2-FEF1-F09F253578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7352"/>
            <a:ext cx="9144000" cy="597559"/>
          </a:xfrm>
        </p:spPr>
        <p:txBody>
          <a:bodyPr>
            <a:normAutofit/>
          </a:bodyPr>
          <a:lstStyle/>
          <a:p>
            <a:r>
              <a:rPr lang="en-US" sz="2800" dirty="0"/>
              <a:t>3) Find the total sales per category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DD4513-157B-F3A2-8DF2-8B73E064A6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703386"/>
            <a:ext cx="4038600" cy="5964700"/>
          </a:xfrm>
        </p:spPr>
        <p:txBody>
          <a:bodyPr/>
          <a:lstStyle/>
          <a:p>
            <a:r>
              <a:rPr lang="en-US" dirty="0"/>
              <a:t>SQL Code: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D748234-EC75-734B-2FFB-A44A4ABD69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703386"/>
            <a:ext cx="4038600" cy="5964700"/>
          </a:xfrm>
        </p:spPr>
        <p:txBody>
          <a:bodyPr/>
          <a:lstStyle/>
          <a:p>
            <a:r>
              <a:rPr lang="en-US" dirty="0"/>
              <a:t>Python Code: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3DFB9D2-ED32-4B0F-5074-9F24127DC8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1" y="1319966"/>
            <a:ext cx="4038600" cy="181116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498183C-3FA6-5511-5BCE-050743D6CC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99" y="3252030"/>
            <a:ext cx="4038601" cy="347453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EDACFE0-462D-8666-8085-6CAF043CEA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9449" y="4174863"/>
            <a:ext cx="4037351" cy="25916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0BC51B2-694E-868D-2FAD-158CD49F3F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8200" y="1319966"/>
            <a:ext cx="4038600" cy="2802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26019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28B23F-B2FD-0652-91DC-79FA49E74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F519A-6556-405B-1733-E825C0B00E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06131"/>
            <a:ext cx="9144000" cy="597559"/>
          </a:xfrm>
        </p:spPr>
        <p:txBody>
          <a:bodyPr>
            <a:normAutofit/>
          </a:bodyPr>
          <a:lstStyle/>
          <a:p>
            <a:r>
              <a:rPr lang="en-US" sz="2800" dirty="0"/>
              <a:t>4) Calculate the percentage of orders paid in installments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BC5F55-A4D3-18CB-7170-8F31F4D7D0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259174"/>
            <a:ext cx="4038600" cy="5408912"/>
          </a:xfrm>
        </p:spPr>
        <p:txBody>
          <a:bodyPr/>
          <a:lstStyle/>
          <a:p>
            <a:r>
              <a:rPr lang="en-US" dirty="0"/>
              <a:t>SQL Code: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54591D-B0ED-F770-CE51-4869CD003F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259174"/>
            <a:ext cx="4038600" cy="5408912"/>
          </a:xfrm>
        </p:spPr>
        <p:txBody>
          <a:bodyPr/>
          <a:lstStyle/>
          <a:p>
            <a:r>
              <a:rPr lang="en-US" dirty="0"/>
              <a:t>Python Code: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6A36E1D-0879-3360-F098-96469C7A42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71625"/>
            <a:ext cx="4038600" cy="247552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8EF1358-51BC-75C3-D062-F22F3CA0E3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707141"/>
            <a:ext cx="4038600" cy="144747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A885503-2739-CE16-786E-D8E901F2CF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8200" y="1871624"/>
            <a:ext cx="4038600" cy="216072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35A62F3-DF8F-5A16-AD8F-A907E8C74C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8199" y="4158848"/>
            <a:ext cx="4038599" cy="2595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15550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2A52D3-B5DA-13E1-DA82-096E43F1C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46A897-B1DE-590C-AF61-A1CECA3584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7352"/>
            <a:ext cx="9144000" cy="597559"/>
          </a:xfrm>
        </p:spPr>
        <p:txBody>
          <a:bodyPr>
            <a:normAutofit/>
          </a:bodyPr>
          <a:lstStyle/>
          <a:p>
            <a:r>
              <a:rPr lang="en-US" sz="2800" dirty="0"/>
              <a:t>5) Count the number of customers from each state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386BD9-BC27-DFEB-9B85-49E8C47A19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703386"/>
            <a:ext cx="4038600" cy="5964700"/>
          </a:xfrm>
        </p:spPr>
        <p:txBody>
          <a:bodyPr/>
          <a:lstStyle/>
          <a:p>
            <a:r>
              <a:rPr lang="en-US" dirty="0"/>
              <a:t>SQL Code: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0223BDB-E6D5-C825-9A44-F299F59BF7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703386"/>
            <a:ext cx="4038600" cy="5964700"/>
          </a:xfrm>
        </p:spPr>
        <p:txBody>
          <a:bodyPr/>
          <a:lstStyle/>
          <a:p>
            <a:r>
              <a:rPr lang="en-US" dirty="0"/>
              <a:t>Python Code: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418F437-8C8E-E4E6-8CFD-64808BEF0B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58820"/>
            <a:ext cx="4038600" cy="183454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284E0B6-0144-66E3-7741-5A774FE6E5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304817"/>
            <a:ext cx="4038600" cy="346174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FCAB53D-4E94-8D0F-C9D2-A296AD2D6D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8391" y="6210873"/>
            <a:ext cx="1698217" cy="59385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4D8FFFA-CF5C-DBD6-8E31-DBCBDD4D06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8200" y="3798975"/>
            <a:ext cx="4038600" cy="237373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AFF14488-6F2E-7088-CF78-E04242E60F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48200" y="1326769"/>
            <a:ext cx="4038600" cy="2373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7582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5FAC9F-33EF-F466-50F8-C34A818A89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7500"/>
            <a:ext cx="8229600" cy="1143000"/>
          </a:xfrm>
        </p:spPr>
        <p:txBody>
          <a:bodyPr>
            <a:noAutofit/>
          </a:bodyPr>
          <a:lstStyle/>
          <a:p>
            <a:r>
              <a:rPr lang="en-US" sz="6000" b="1" dirty="0"/>
              <a:t>INTERMEDIATE PROBLEMS</a:t>
            </a:r>
          </a:p>
        </p:txBody>
      </p:sp>
    </p:spTree>
    <p:extLst>
      <p:ext uri="{BB962C8B-B14F-4D97-AF65-F5344CB8AC3E}">
        <p14:creationId xmlns:p14="http://schemas.microsoft.com/office/powerpoint/2010/main" val="35071968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E5721B-5342-CCDE-D5FF-1E1D4BAF40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0AB0C-BAB2-7457-6889-2B09C3F24D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7352"/>
            <a:ext cx="9144000" cy="597559"/>
          </a:xfrm>
        </p:spPr>
        <p:txBody>
          <a:bodyPr>
            <a:normAutofit/>
          </a:bodyPr>
          <a:lstStyle/>
          <a:p>
            <a:r>
              <a:rPr lang="en-US" sz="2800" dirty="0"/>
              <a:t>1) Calculate the number of orders per month in 2018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277EB-41F6-E15A-CCEA-DA0C2B7BA18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703386"/>
            <a:ext cx="4038600" cy="5964700"/>
          </a:xfrm>
        </p:spPr>
        <p:txBody>
          <a:bodyPr/>
          <a:lstStyle/>
          <a:p>
            <a:r>
              <a:rPr lang="en-US" dirty="0"/>
              <a:t>SQL Code: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37C476-C253-8FAC-193D-BAB03F428D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703386"/>
            <a:ext cx="4038600" cy="5964700"/>
          </a:xfrm>
        </p:spPr>
        <p:txBody>
          <a:bodyPr/>
          <a:lstStyle/>
          <a:p>
            <a:r>
              <a:rPr lang="en-US" dirty="0"/>
              <a:t>Python Code: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114A78D-9C1D-1688-A055-9483716C3C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1" y="1268319"/>
            <a:ext cx="4038600" cy="186877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2C5E1A2-1C58-14F5-7270-EAF3B7EB92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1" y="3235568"/>
            <a:ext cx="4038599" cy="343251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EC98C69-9DF7-7830-454C-83603E0250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8201" y="4148877"/>
            <a:ext cx="4038598" cy="261768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82D8E21-C893-508E-11AB-ABB0346C8F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8201" y="1268319"/>
            <a:ext cx="4038600" cy="2782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92262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45F1A8-7C89-DC6A-4629-63ED2B802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313FD-27AA-A2C7-078A-22472CD955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99111"/>
            <a:ext cx="9144000" cy="597559"/>
          </a:xfrm>
        </p:spPr>
        <p:txBody>
          <a:bodyPr>
            <a:noAutofit/>
          </a:bodyPr>
          <a:lstStyle/>
          <a:p>
            <a:r>
              <a:rPr lang="en-US" sz="2400" dirty="0"/>
              <a:t>2) Find the average number of products per order, grouped by customer city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3F50E4-0629-D8DD-BB40-0DA56B6276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703386"/>
            <a:ext cx="4038600" cy="5964700"/>
          </a:xfrm>
        </p:spPr>
        <p:txBody>
          <a:bodyPr/>
          <a:lstStyle/>
          <a:p>
            <a:r>
              <a:rPr lang="en-US" dirty="0"/>
              <a:t>SQL Code: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818AD8-0EBB-DFEE-EC94-6E151E480E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703386"/>
            <a:ext cx="4038600" cy="5964700"/>
          </a:xfrm>
        </p:spPr>
        <p:txBody>
          <a:bodyPr/>
          <a:lstStyle/>
          <a:p>
            <a:r>
              <a:rPr lang="en-US" dirty="0"/>
              <a:t>Python Code: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D57CF401-DE99-F02D-F1B3-6D6A022767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25367"/>
            <a:ext cx="4038600" cy="232139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C41AD17-FBC4-08E7-C3AA-7ED77D35D7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1" y="3622395"/>
            <a:ext cx="4038600" cy="313649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3D99884-AF4C-CDF6-97E2-5C7FD3788F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8200" y="4537460"/>
            <a:ext cx="4038599" cy="2130626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438F54F-38B0-70E7-4E57-BE1A3451F5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8200" y="1221233"/>
            <a:ext cx="4038600" cy="313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26489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DB12FE-E4FC-0124-4B55-9CBE019E2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EA8861-98DD-5E40-6442-ED6914E3B5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05827"/>
            <a:ext cx="9144000" cy="597559"/>
          </a:xfrm>
        </p:spPr>
        <p:txBody>
          <a:bodyPr>
            <a:noAutofit/>
          </a:bodyPr>
          <a:lstStyle/>
          <a:p>
            <a:r>
              <a:rPr lang="en-US" sz="2300" dirty="0"/>
              <a:t>3) Calculate the percentage of total revenue contributed by each product category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7E932A-3C69-F6B3-1CD4-D8A008A0CF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703386"/>
            <a:ext cx="4038600" cy="5964700"/>
          </a:xfrm>
        </p:spPr>
        <p:txBody>
          <a:bodyPr/>
          <a:lstStyle/>
          <a:p>
            <a:r>
              <a:rPr lang="en-US" dirty="0"/>
              <a:t>SQL Code: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7C8976-6259-94B7-64DB-851498BEB1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703386"/>
            <a:ext cx="4038600" cy="5964700"/>
          </a:xfrm>
        </p:spPr>
        <p:txBody>
          <a:bodyPr/>
          <a:lstStyle/>
          <a:p>
            <a:r>
              <a:rPr lang="en-US" dirty="0"/>
              <a:t>Python Code: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5AA0A19-9C32-D8B9-FB77-BDC921FE30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954" y="1300945"/>
            <a:ext cx="4038600" cy="223854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FB5DF6E-0368-6E17-0311-8D1759E185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709" y="3623034"/>
            <a:ext cx="4087091" cy="304505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357E0CA-8F48-BD25-15C6-EA081B48E3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8200" y="1300945"/>
            <a:ext cx="4038600" cy="5367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51614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4740C8-506D-290E-22B3-DCDEFF238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38E25-CD12-2290-2CCE-84BF84F13F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7352"/>
            <a:ext cx="9144000" cy="597559"/>
          </a:xfrm>
        </p:spPr>
        <p:txBody>
          <a:bodyPr>
            <a:noAutofit/>
          </a:bodyPr>
          <a:lstStyle/>
          <a:p>
            <a:r>
              <a:rPr lang="en-US" sz="2300" dirty="0"/>
              <a:t>4) Identify the correlation between product price and number of times purchased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39262E-1204-8530-1796-1D63FFB5E9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703386"/>
            <a:ext cx="4038600" cy="5964700"/>
          </a:xfrm>
        </p:spPr>
        <p:txBody>
          <a:bodyPr/>
          <a:lstStyle/>
          <a:p>
            <a:r>
              <a:rPr lang="en-US" dirty="0"/>
              <a:t>SQL Code: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A21C5EE-E35B-5B36-8EED-1559EAB5CA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703386"/>
            <a:ext cx="4038600" cy="5964700"/>
          </a:xfrm>
        </p:spPr>
        <p:txBody>
          <a:bodyPr/>
          <a:lstStyle/>
          <a:p>
            <a:r>
              <a:rPr lang="en-US" dirty="0"/>
              <a:t>Python Code: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688A92F-4A76-A812-B8ED-8AA53E23EA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96515"/>
            <a:ext cx="4038600" cy="166549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DD65DD0-489B-83C2-0EDD-E60A9578EC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184661"/>
            <a:ext cx="4038600" cy="35819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636935B-23B3-E30F-23A8-71FA2F989D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8199" y="4698036"/>
            <a:ext cx="4038599" cy="215996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A7DBAC8-319E-868A-2EFE-5B82F52B69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8200" y="1396515"/>
            <a:ext cx="4038599" cy="3172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85629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74DB26-00B9-5F04-C58E-97D0DA6E39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5BAA09-1F9C-806A-3C9B-9367250EC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7352"/>
            <a:ext cx="9144000" cy="597559"/>
          </a:xfrm>
        </p:spPr>
        <p:txBody>
          <a:bodyPr>
            <a:normAutofit fontScale="90000"/>
          </a:bodyPr>
          <a:lstStyle/>
          <a:p>
            <a:r>
              <a:rPr lang="en-US" sz="2800" dirty="0"/>
              <a:t>5) Calculate total revenue generated by each seller and rank them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E1CDEC-02B8-CFEF-CA6E-30C91FE31F7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703386"/>
            <a:ext cx="4038600" cy="5964700"/>
          </a:xfrm>
        </p:spPr>
        <p:txBody>
          <a:bodyPr/>
          <a:lstStyle/>
          <a:p>
            <a:r>
              <a:rPr lang="en-US" dirty="0"/>
              <a:t>SQL Code: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60BB05-2BBC-4640-8ECE-71FE4C2B59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703386"/>
            <a:ext cx="4038600" cy="5964700"/>
          </a:xfrm>
        </p:spPr>
        <p:txBody>
          <a:bodyPr/>
          <a:lstStyle/>
          <a:p>
            <a:r>
              <a:rPr lang="en-US" dirty="0"/>
              <a:t>Python Code: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C7B9257-EDA1-5292-E169-0A4236C663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55929"/>
            <a:ext cx="4038600" cy="217307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B03777E-346B-3543-69A4-6F7768BFE6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568123"/>
            <a:ext cx="4038600" cy="296084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F32BF86-5B31-74D2-EEE6-73F300F8ED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8200" y="4601742"/>
            <a:ext cx="4038600" cy="206634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BBBB95CC-A985-E563-35C3-86D97AA18D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8200" y="1255929"/>
            <a:ext cx="4038600" cy="3286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57014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769619-8765-9DAD-74A0-388AA0FA08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7500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n-US" sz="6000" b="1" dirty="0"/>
              <a:t>ADVANCE </a:t>
            </a:r>
            <a:br>
              <a:rPr lang="en-US" sz="6000" b="1" dirty="0"/>
            </a:br>
            <a:r>
              <a:rPr lang="en-US" sz="6000" b="1" dirty="0"/>
              <a:t>PROBLEMS</a:t>
            </a:r>
          </a:p>
        </p:txBody>
      </p:sp>
    </p:spTree>
    <p:extLst>
      <p:ext uri="{BB962C8B-B14F-4D97-AF65-F5344CB8AC3E}">
        <p14:creationId xmlns:p14="http://schemas.microsoft.com/office/powerpoint/2010/main" val="7080098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B95B8-C0AA-AAA1-670D-86BA69905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8DB7A-692D-5C52-779D-8BDB5FA1F7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7352"/>
            <a:ext cx="9144000" cy="597559"/>
          </a:xfrm>
        </p:spPr>
        <p:txBody>
          <a:bodyPr>
            <a:normAutofit/>
          </a:bodyPr>
          <a:lstStyle/>
          <a:p>
            <a:r>
              <a:rPr lang="en-US" sz="2800" dirty="0"/>
              <a:t>1) Moving average of order values for each customer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C3523A-26C7-4BC0-4FAE-2D94174A27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703386"/>
            <a:ext cx="4038600" cy="5964700"/>
          </a:xfrm>
        </p:spPr>
        <p:txBody>
          <a:bodyPr/>
          <a:lstStyle/>
          <a:p>
            <a:r>
              <a:rPr lang="en-US" dirty="0"/>
              <a:t>SQL Code: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A18C936-CC0B-B631-E892-404B0C4FEE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703386"/>
            <a:ext cx="4038600" cy="5964700"/>
          </a:xfrm>
        </p:spPr>
        <p:txBody>
          <a:bodyPr/>
          <a:lstStyle/>
          <a:p>
            <a:r>
              <a:rPr lang="en-US" dirty="0"/>
              <a:t>Python Code: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41EF273-9E92-43FD-D962-CE093D39DD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" y="3950039"/>
            <a:ext cx="4038602" cy="281652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25239E3-D186-42A1-DA65-0196ECECD3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1" y="1218891"/>
            <a:ext cx="4038600" cy="263267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08B80FB-5279-F723-B1F8-69536AC31DC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55482"/>
          <a:stretch>
            <a:fillRect/>
          </a:stretch>
        </p:blipFill>
        <p:spPr>
          <a:xfrm>
            <a:off x="4648200" y="4242216"/>
            <a:ext cx="4038600" cy="242587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53EF098A-9B24-EF6A-FFEB-0956CFF5582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39313" b="47179"/>
          <a:stretch>
            <a:fillRect/>
          </a:stretch>
        </p:blipFill>
        <p:spPr>
          <a:xfrm>
            <a:off x="4648200" y="1176639"/>
            <a:ext cx="4038600" cy="2967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49950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F8B1DB-62D3-8D83-34AD-F88826407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AB21A3-F2FB-D3DE-CD12-EDE2E64913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7352"/>
            <a:ext cx="9144000" cy="597559"/>
          </a:xfrm>
        </p:spPr>
        <p:txBody>
          <a:bodyPr>
            <a:normAutofit/>
          </a:bodyPr>
          <a:lstStyle/>
          <a:p>
            <a:r>
              <a:rPr lang="en-US" sz="2800" dirty="0"/>
              <a:t>2) Cumulative sales per month for each year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B3E199-D6B0-DCFA-B65B-681920521E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703386"/>
            <a:ext cx="4038600" cy="5964700"/>
          </a:xfrm>
        </p:spPr>
        <p:txBody>
          <a:bodyPr/>
          <a:lstStyle/>
          <a:p>
            <a:r>
              <a:rPr lang="en-US" dirty="0"/>
              <a:t>SQL Code: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EC893A-1D0F-4390-33D1-666FDDCD7F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703386"/>
            <a:ext cx="4038600" cy="5964700"/>
          </a:xfrm>
        </p:spPr>
        <p:txBody>
          <a:bodyPr/>
          <a:lstStyle/>
          <a:p>
            <a:r>
              <a:rPr lang="en-US" dirty="0"/>
              <a:t>Python Code: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987A303-58EF-E9E9-C905-D43957C875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069" y="3902230"/>
            <a:ext cx="4239131" cy="276585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0845AF5-E875-9ADE-608F-637C7E5450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1" y="1304627"/>
            <a:ext cx="4038600" cy="249912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4E25C3B7-F173-4F1C-F7F6-1BD7582C3E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8200" y="4512039"/>
            <a:ext cx="4038600" cy="2156047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935181E-AF88-E134-8EDA-6E9C23DE2E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8199" y="1302206"/>
            <a:ext cx="4038600" cy="311135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AD5B03B-0F09-9F99-657E-CFAD465CBC2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85023" y="3685736"/>
            <a:ext cx="989352" cy="643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36390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C0E386-B821-6152-F95E-86B2A46E20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520C0-F8C9-D10F-CAD3-ADBDDA1557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7352"/>
            <a:ext cx="9144000" cy="597559"/>
          </a:xfrm>
        </p:spPr>
        <p:txBody>
          <a:bodyPr>
            <a:normAutofit/>
          </a:bodyPr>
          <a:lstStyle/>
          <a:p>
            <a:r>
              <a:rPr lang="en-US" sz="2800" dirty="0"/>
              <a:t>3) Year-over-Year (YoY) growth rate of total sales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0667C6-337E-5030-7386-C64ECB91072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703386"/>
            <a:ext cx="4038600" cy="5964700"/>
          </a:xfrm>
        </p:spPr>
        <p:txBody>
          <a:bodyPr/>
          <a:lstStyle/>
          <a:p>
            <a:r>
              <a:rPr lang="en-US" dirty="0"/>
              <a:t>SQL Code: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F54738A-EA87-BD8F-3D90-DAD706936C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703386"/>
            <a:ext cx="4038600" cy="5964700"/>
          </a:xfrm>
        </p:spPr>
        <p:txBody>
          <a:bodyPr/>
          <a:lstStyle/>
          <a:p>
            <a:r>
              <a:rPr lang="en-US" dirty="0"/>
              <a:t>Python Code: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70717E5-7346-F658-5CBE-486E4F1BEC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5169238"/>
            <a:ext cx="4038600" cy="159732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E20DA94-8F2B-3D10-062F-73691A3EC6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99200"/>
            <a:ext cx="4094017" cy="387156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02F0335-007A-F424-5E2E-96A26242CF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8200" y="4655485"/>
            <a:ext cx="4038600" cy="201260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66028F5-5D5B-687A-C184-C978604E8D6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8200" y="1199200"/>
            <a:ext cx="4038599" cy="3357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76752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7B944-6040-14AD-DA2B-5F167FCA4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BED631-E94E-D4DB-CD32-3818FC47D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7352"/>
            <a:ext cx="9144000" cy="597559"/>
          </a:xfrm>
        </p:spPr>
        <p:txBody>
          <a:bodyPr>
            <a:normAutofit/>
          </a:bodyPr>
          <a:lstStyle/>
          <a:p>
            <a:r>
              <a:rPr lang="en-US" sz="2800" dirty="0"/>
              <a:t>4) Customer retention rate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859D2C-7CF3-D1A9-FDB2-DA8DC10800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703386"/>
            <a:ext cx="4038600" cy="5964700"/>
          </a:xfrm>
        </p:spPr>
        <p:txBody>
          <a:bodyPr/>
          <a:lstStyle/>
          <a:p>
            <a:r>
              <a:rPr lang="en-US" dirty="0"/>
              <a:t>SQL Code: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E772A5-1E54-A60F-54D4-E135633507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703386"/>
            <a:ext cx="4038600" cy="5964700"/>
          </a:xfrm>
        </p:spPr>
        <p:txBody>
          <a:bodyPr/>
          <a:lstStyle/>
          <a:p>
            <a:r>
              <a:rPr lang="en-US" dirty="0"/>
              <a:t>Python Code: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27779A6-C9E4-5B20-D305-7EF3F09267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5792693"/>
            <a:ext cx="4038600" cy="97386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997B8C8-5677-23AF-7D8C-BF6D8C8198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59339"/>
            <a:ext cx="4038600" cy="443487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08F4D51-3A67-E1B7-F7DE-84C963959A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8200" y="1259339"/>
            <a:ext cx="4038600" cy="5408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7631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149A71-E1BA-DBE2-ABA1-10AC51C52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3BA98C-32C1-F495-7FE8-99A2D34D0B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7352"/>
            <a:ext cx="9144000" cy="597559"/>
          </a:xfrm>
        </p:spPr>
        <p:txBody>
          <a:bodyPr>
            <a:normAutofit/>
          </a:bodyPr>
          <a:lstStyle/>
          <a:p>
            <a:r>
              <a:rPr lang="en-US" sz="2800" dirty="0"/>
              <a:t>5) Top 3 customers by spending in each year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303FB-74E3-3570-AB3B-993F8045B0B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703386"/>
            <a:ext cx="4038600" cy="5964700"/>
          </a:xfrm>
        </p:spPr>
        <p:txBody>
          <a:bodyPr/>
          <a:lstStyle/>
          <a:p>
            <a:r>
              <a:rPr lang="en-US" dirty="0"/>
              <a:t>SQL Code: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55E825-7BAB-12C2-866D-89F39A01AA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703386"/>
            <a:ext cx="4038600" cy="5964700"/>
          </a:xfrm>
        </p:spPr>
        <p:txBody>
          <a:bodyPr/>
          <a:lstStyle/>
          <a:p>
            <a:r>
              <a:rPr lang="en-US" dirty="0"/>
              <a:t>Python Code: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A897135-F53A-1658-A1E3-765CE46A76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876799"/>
            <a:ext cx="4038600" cy="188976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A5C2134-FF86-644E-6614-1F3F34D6F2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76049"/>
            <a:ext cx="4038600" cy="350227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009D743-C058-EF02-AC88-00AC46ADC6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8200" y="5042647"/>
            <a:ext cx="4186518" cy="172989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8B80118-4F36-F9A4-BCA4-E918D7498DC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8188" y="1276049"/>
            <a:ext cx="4186530" cy="3662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63465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n-US" dirty="0"/>
              <a:t>This project demonstrates full-stack analytical capability by combining SQL, Python, window functions, and validation methodology to transform raw transactional data into strategic business insights.</a:t>
            </a:r>
          </a:p>
          <a:p>
            <a:pPr algn="just"/>
            <a:r>
              <a:rPr lang="en-US" dirty="0"/>
              <a:t>Consistent cross-validation between SQL and Python ensures analytical accuracy and production-level reliability.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Blue">
      <a:dk1>
        <a:sysClr val="windowText" lastClr="000000"/>
      </a:dk1>
      <a:lt1>
        <a:sysClr val="window" lastClr="FFFFFF"/>
      </a:lt1>
      <a:dk2>
        <a:srgbClr val="17406D"/>
      </a:dk2>
      <a:lt2>
        <a:srgbClr val="DBEF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F49100"/>
      </a:hlink>
      <a:folHlink>
        <a:srgbClr val="85DFD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598</TotalTime>
  <Words>339</Words>
  <Application>Microsoft Office PowerPoint</Application>
  <PresentationFormat>On-screen Show (4:3)</PresentationFormat>
  <Paragraphs>60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SQL &amp; Python Business Analytics Project</vt:lpstr>
      <vt:lpstr>Project Objective</vt:lpstr>
      <vt:lpstr>BASIC  PROBLEMS</vt:lpstr>
      <vt:lpstr>1) List all unique cities where customers are located</vt:lpstr>
      <vt:lpstr>2) Count the number of orders placed in 2017</vt:lpstr>
      <vt:lpstr>3) Find the total sales per category</vt:lpstr>
      <vt:lpstr>4) Calculate the percentage of orders paid in installments</vt:lpstr>
      <vt:lpstr>5) Count the number of customers from each state</vt:lpstr>
      <vt:lpstr>INTERMEDIATE PROBLEMS</vt:lpstr>
      <vt:lpstr>1) Calculate the number of orders per month in 2018</vt:lpstr>
      <vt:lpstr>2) Find the average number of products per order, grouped by customer city</vt:lpstr>
      <vt:lpstr>3) Calculate the percentage of total revenue contributed by each product category</vt:lpstr>
      <vt:lpstr>4) Identify the correlation between product price and number of times purchased</vt:lpstr>
      <vt:lpstr>5) Calculate total revenue generated by each seller and rank them</vt:lpstr>
      <vt:lpstr>ADVANCE  PROBLEMS</vt:lpstr>
      <vt:lpstr>1) Moving average of order values for each customer</vt:lpstr>
      <vt:lpstr>2) Cumulative sales per month for each year</vt:lpstr>
      <vt:lpstr>3) Year-over-Year (YoY) growth rate of total sales</vt:lpstr>
      <vt:lpstr>4) Customer retention rate</vt:lpstr>
      <vt:lpstr>5) Top 3 customers by spending in each year</vt:lpstr>
      <vt:lpstr>Conclusion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archi</dc:creator>
  <cp:keywords/>
  <dc:description>generated using python-pptx</dc:description>
  <cp:lastModifiedBy>archissave512@gmail.com</cp:lastModifiedBy>
  <cp:revision>7</cp:revision>
  <dcterms:created xsi:type="dcterms:W3CDTF">2013-01-27T09:14:16Z</dcterms:created>
  <dcterms:modified xsi:type="dcterms:W3CDTF">2026-02-24T13:07:25Z</dcterms:modified>
  <cp:category/>
</cp:coreProperties>
</file>