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362" r:id="rId4"/>
    <p:sldId id="344" r:id="rId5"/>
    <p:sldId id="345" r:id="rId6"/>
    <p:sldId id="346" r:id="rId7"/>
    <p:sldId id="347" r:id="rId8"/>
    <p:sldId id="348" r:id="rId9"/>
    <p:sldId id="361" r:id="rId10"/>
    <p:sldId id="349" r:id="rId11"/>
    <p:sldId id="350" r:id="rId12"/>
    <p:sldId id="351" r:id="rId13"/>
    <p:sldId id="352" r:id="rId14"/>
    <p:sldId id="353" r:id="rId15"/>
    <p:sldId id="363" r:id="rId16"/>
    <p:sldId id="354" r:id="rId17"/>
    <p:sldId id="355" r:id="rId18"/>
    <p:sldId id="356" r:id="rId19"/>
    <p:sldId id="357" r:id="rId20"/>
    <p:sldId id="358" r:id="rId21"/>
    <p:sldId id="265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99"/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554" autoAdjust="0"/>
  </p:normalViewPr>
  <p:slideViewPr>
    <p:cSldViewPr snapToGrid="0" snapToObjects="1">
      <p:cViewPr>
        <p:scale>
          <a:sx n="68" d="100"/>
          <a:sy n="68" d="100"/>
        </p:scale>
        <p:origin x="1446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7C72B-7FE4-40F9-9F34-047476074CE6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3FE6AF-D59C-497F-8C27-671D0395D0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40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3FE6AF-D59C-497F-8C27-671D0395D07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155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C99">
            <a:alpha val="2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 &amp; Python Business Analytics Project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SQL &amp; Python Data Analytics Project</a:t>
            </a:r>
          </a:p>
          <a:p>
            <a:r>
              <a:t>Insights &amp; Visual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15 business problems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Execute queries in SQL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same problems in Python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Validate that outputs are identical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Demonstrate technical accuracy &amp; analytical consistency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DB312-9ECB-348B-870C-7EF001926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sz="6000" b="1" dirty="0"/>
              <a:t>BASIC </a:t>
            </a:r>
            <a:br>
              <a:rPr lang="en-US" sz="6000" b="1" dirty="0"/>
            </a:br>
            <a:r>
              <a:rPr lang="en-US" sz="6000" b="1" dirty="0"/>
              <a:t>PROBLEMS</a:t>
            </a:r>
          </a:p>
        </p:txBody>
      </p:sp>
    </p:spTree>
    <p:extLst>
      <p:ext uri="{BB962C8B-B14F-4D97-AF65-F5344CB8AC3E}">
        <p14:creationId xmlns:p14="http://schemas.microsoft.com/office/powerpoint/2010/main" val="461963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C0727-E7CA-A146-AFBA-0F74F9C83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9131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1) List all unique cities where customers are located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8AEA6-E68D-C8C1-8BF8-428A2BD004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970670"/>
            <a:ext cx="4038600" cy="5697416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FE988-9D90-963B-CF73-0B123A203D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970670"/>
            <a:ext cx="4038600" cy="5697415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4B24962-E093-ABF3-8DBA-4474910B2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616724"/>
            <a:ext cx="4191001" cy="15472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9F885A3-9795-1E68-6709-82AEE160F1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7273" b="39758"/>
          <a:stretch>
            <a:fillRect/>
          </a:stretch>
        </p:blipFill>
        <p:spPr>
          <a:xfrm>
            <a:off x="304800" y="3296494"/>
            <a:ext cx="4190999" cy="32390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DDB0BDD-8148-7A75-A337-4992414F33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197" y="1544589"/>
            <a:ext cx="4038599" cy="289544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76B4F75-327C-043B-5EA1-AAB0E62CCA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496" y="3929546"/>
            <a:ext cx="2009132" cy="51048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2D99D37-D16E-23BD-59F4-052AC9D898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8198" y="4542020"/>
            <a:ext cx="4038599" cy="212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577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E4DB-6FD5-87E9-9672-ABB9112C3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F063E-AE0C-455C-23BD-D367F1DD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31971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2) Count the number of orders placed in 2017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92BF-BBF5-2D0E-2778-C396934016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049310"/>
            <a:ext cx="4038600" cy="5618775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FC399-BF07-563D-CEA4-7B0707DBE4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49310"/>
            <a:ext cx="4038600" cy="5618776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A3982A-00FE-32BC-B596-E87393E10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9141"/>
            <a:ext cx="4114800" cy="20924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71C56D-2A3D-D3D4-99DE-061A20841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51343"/>
            <a:ext cx="4114800" cy="22145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E1E59DA-AEFB-C51D-983B-4222030CE8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3831563"/>
            <a:ext cx="4038598" cy="28365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6A0BC39-5CD5-5EE4-CF67-CBF6F9C38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2" y="1760000"/>
            <a:ext cx="4038598" cy="1851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275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C7176-E26C-4798-E19C-44041F019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C4D6C-EAB1-C6E2-FEF1-F09F25357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3433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3) Find the total sales per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D4513-157B-F3A2-8DF2-8B73E064A6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809468"/>
            <a:ext cx="4038600" cy="5858618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748234-EC75-734B-2FFB-A44A4ABD69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809468"/>
            <a:ext cx="4038600" cy="5858617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DFB9D2-ED32-4B0F-5074-9F24127DC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465240"/>
            <a:ext cx="4038600" cy="181116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98183C-3FA6-5511-5BCE-050743D6CC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5943" b="34207"/>
          <a:stretch>
            <a:fillRect/>
          </a:stretch>
        </p:blipFill>
        <p:spPr>
          <a:xfrm>
            <a:off x="457199" y="3527475"/>
            <a:ext cx="4037351" cy="32390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EDACFE0-462D-8666-8085-6CAF043CEA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449" y="4892973"/>
            <a:ext cx="4037351" cy="18735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439B13-C2A5-41AE-0DFB-959AF05697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9449" y="2467014"/>
            <a:ext cx="4037350" cy="2373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7277E5-7C4D-B9CB-2C14-B418B9282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9449" y="1465240"/>
            <a:ext cx="4038601" cy="975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601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8B23F-B2FD-0652-91DC-79FA49E74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F519A-6556-405B-1733-E825C0B0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6131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4) Calculate the percentage of orders paid in installments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C5F55-A4D3-18CB-7170-8F31F4D7D0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59174"/>
            <a:ext cx="4038600" cy="5408912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4591D-B0ED-F770-CE51-4869CD003F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259174"/>
            <a:ext cx="4038600" cy="5408912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A36E1D-0879-3360-F098-96469C7A42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1625"/>
            <a:ext cx="4038600" cy="24755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EF1358-51BC-75C3-D062-F22F3CA0E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707141"/>
            <a:ext cx="4038600" cy="14474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885503-2739-CE16-786E-D8E901F2C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871624"/>
            <a:ext cx="4038600" cy="216072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5A62F3-DF8F-5A16-AD8F-A907E8C74C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199" y="4158848"/>
            <a:ext cx="4038599" cy="259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550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A52D3-B5DA-13E1-DA82-096E43F1C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6A897-B1DE-590C-AF61-A1CECA358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5) Count the number of customers from each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86BD9-BC27-DFEB-9B85-49E8C47A1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506437"/>
            <a:ext cx="4038600" cy="6161649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223BDB-E6D5-C825-9A44-F299F59BF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506437"/>
            <a:ext cx="4038600" cy="6161649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18F437-8C8E-E4E6-8CFD-64808BEF0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03996"/>
            <a:ext cx="4038600" cy="183454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284E0B6-0144-66E3-7741-5A774FE6E5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5201" b="36611"/>
          <a:stretch>
            <a:fillRect/>
          </a:stretch>
        </p:blipFill>
        <p:spPr>
          <a:xfrm>
            <a:off x="457200" y="3255580"/>
            <a:ext cx="4038600" cy="336326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4D8FFFA-CF5C-DBD6-8E31-DBCBDD4D06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4245118"/>
            <a:ext cx="4038600" cy="23737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51DAF0-5601-C743-E5FF-5A0FCB00AE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8200" y="1103996"/>
            <a:ext cx="3972501" cy="309188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FCAB53D-4E94-8D0F-C9D2-A296AD2D6D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6388" y="3587261"/>
            <a:ext cx="1474313" cy="59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58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FAC9F-33EF-F466-50F8-C34A818A8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Autofit/>
          </a:bodyPr>
          <a:lstStyle/>
          <a:p>
            <a:r>
              <a:rPr lang="en-US" sz="6000" b="1" dirty="0"/>
              <a:t>INTERMEDIATE PROBLEMS</a:t>
            </a:r>
          </a:p>
        </p:txBody>
      </p:sp>
    </p:spTree>
    <p:extLst>
      <p:ext uri="{BB962C8B-B14F-4D97-AF65-F5344CB8AC3E}">
        <p14:creationId xmlns:p14="http://schemas.microsoft.com/office/powerpoint/2010/main" val="3507196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5721B-5342-CCDE-D5FF-1E1D4BAF4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0AB0C-BAB2-7457-6889-2B09C3F24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1) Calculate the number of orders per month in 2018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277EB-41F6-E15A-CCEA-DA0C2B7BA1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37C476-C253-8FAC-193D-BAB03F428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14A78D-9C1D-1688-A055-9483716C3C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268319"/>
            <a:ext cx="4038600" cy="18687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C5E1A2-1C58-14F5-7270-EAF3B7EB9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3235568"/>
            <a:ext cx="4038599" cy="34325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EC98C69-9DF7-7830-454C-83603E025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1" y="4148877"/>
            <a:ext cx="4038598" cy="261768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82D8E21-C893-508E-11AB-ABB0346C8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1" y="1268319"/>
            <a:ext cx="4038600" cy="278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226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5F1A8-7C89-DC6A-4629-63ED2B802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313FD-27AA-A2C7-078A-22472CD95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9111"/>
            <a:ext cx="9144000" cy="597559"/>
          </a:xfrm>
        </p:spPr>
        <p:txBody>
          <a:bodyPr>
            <a:noAutofit/>
          </a:bodyPr>
          <a:lstStyle/>
          <a:p>
            <a:r>
              <a:rPr lang="en-US" sz="2400" dirty="0"/>
              <a:t>2) Find the average number of products per order, grouped by customer 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F50E4-0629-D8DD-BB40-0DA56B6276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818AD8-0EBB-DFEE-EC94-6E151E480E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57CF401-DE99-F02D-F1B3-6D6A02276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25367"/>
            <a:ext cx="4038600" cy="23213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C41AD17-FBC4-08E7-C3AA-7ED77D35D7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7616" b="35908"/>
          <a:stretch>
            <a:fillRect/>
          </a:stretch>
        </p:blipFill>
        <p:spPr>
          <a:xfrm>
            <a:off x="457200" y="3622394"/>
            <a:ext cx="4038599" cy="304569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3D99884-AF4C-CDF6-97E2-5C7FD3788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4537460"/>
            <a:ext cx="4038599" cy="213062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38F54F-38B0-70E7-4E57-BE1A3451F5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221233"/>
            <a:ext cx="4038600" cy="313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648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B12FE-E4FC-0124-4B55-9CBE019E2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8861-98DD-5E40-6442-ED6914E3B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5827"/>
            <a:ext cx="9144000" cy="597559"/>
          </a:xfrm>
        </p:spPr>
        <p:txBody>
          <a:bodyPr>
            <a:noAutofit/>
          </a:bodyPr>
          <a:lstStyle/>
          <a:p>
            <a:r>
              <a:rPr lang="en-US" sz="2300" dirty="0"/>
              <a:t>3) Calculate the percentage of total revenue contributed by each product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E932A-3C69-F6B3-1CD4-D8A008A0CF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7C8976-6259-94B7-64DB-851498BEB1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AA0A19-9C32-D8B9-FB77-BDC921FE3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954" y="1300945"/>
            <a:ext cx="4038600" cy="22385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FB5DF6E-0368-6E17-0311-8D1759E185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9661" b="36486"/>
          <a:stretch>
            <a:fillRect/>
          </a:stretch>
        </p:blipFill>
        <p:spPr>
          <a:xfrm>
            <a:off x="408709" y="3623034"/>
            <a:ext cx="4067217" cy="304505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357E0CA-8F48-BD25-15C6-EA081B48E3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300945"/>
            <a:ext cx="4038600" cy="536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161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740C8-506D-290E-22B3-DCDEFF23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38E25-CD12-2290-2CCE-84BF84F13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Autofit/>
          </a:bodyPr>
          <a:lstStyle/>
          <a:p>
            <a:r>
              <a:rPr lang="en-US" sz="2300" dirty="0"/>
              <a:t>4) Identify the correlation between product price and number of times purchased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9262E-1204-8530-1796-1D63FFB5E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21C5EE-E35B-5B36-8EED-1559EAB5CA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88A92F-4A76-A812-B8ED-8AA53E23E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96515"/>
            <a:ext cx="4038600" cy="166549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36935B-23B3-E30F-23A8-71FA2F98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199" y="4891314"/>
            <a:ext cx="4038599" cy="187524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7DBAC8-319E-868A-2EFE-5B82F52B6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396515"/>
            <a:ext cx="4038599" cy="33963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EBC4A1A-C842-9866-53F6-6F37F6E6D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1" y="3158887"/>
            <a:ext cx="4038600" cy="3607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62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DB26-00B9-5F04-C58E-97D0DA6E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BAA09-1F9C-806A-3C9B-9367250E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5) Calculate total revenue generated by each seller and rank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1CDEC-02B8-CFEF-CA6E-30C91FE31F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0BB05-2BBC-4640-8ECE-71FE4C2B59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C7B9257-EDA1-5292-E169-0A4236C66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5929"/>
            <a:ext cx="4038600" cy="21730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B03777E-346B-3543-69A4-6F7768BFE6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6322" b="35718"/>
          <a:stretch>
            <a:fillRect/>
          </a:stretch>
        </p:blipFill>
        <p:spPr>
          <a:xfrm>
            <a:off x="457199" y="3568123"/>
            <a:ext cx="4043651" cy="309996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32BF86-5B31-74D2-EEE6-73F300F8E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4860388"/>
            <a:ext cx="4038600" cy="180769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BBB95CC-A985-E563-35C3-86D97AA18D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255929"/>
            <a:ext cx="4038600" cy="3555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7014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69619-8765-9DAD-74A0-388AA0FA0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sz="6000" b="1" dirty="0"/>
              <a:t>ADVANCE </a:t>
            </a:r>
            <a:br>
              <a:rPr lang="en-US" sz="6000" b="1" dirty="0"/>
            </a:br>
            <a:r>
              <a:rPr lang="en-US" sz="6000" b="1" dirty="0"/>
              <a:t>PROBLEMS</a:t>
            </a:r>
          </a:p>
        </p:txBody>
      </p:sp>
    </p:spTree>
    <p:extLst>
      <p:ext uri="{BB962C8B-B14F-4D97-AF65-F5344CB8AC3E}">
        <p14:creationId xmlns:p14="http://schemas.microsoft.com/office/powerpoint/2010/main" val="708009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B95B8-C0AA-AAA1-670D-86BA69905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DB7A-692D-5C52-779D-8BDB5FA1F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1) Moving average of order values for each 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3523A-26C7-4BC0-4FAE-2D94174A27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18C936-CC0B-B631-E892-404B0C4FE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1EF273-9E92-43FD-D962-CE093D39DD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362" b="30017"/>
          <a:stretch>
            <a:fillRect/>
          </a:stretch>
        </p:blipFill>
        <p:spPr>
          <a:xfrm>
            <a:off x="457199" y="3950038"/>
            <a:ext cx="4048976" cy="2718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5239E3-D186-42A1-DA65-0196ECECD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1218891"/>
            <a:ext cx="4038600" cy="26326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F6AA09-61F5-8DBB-45C8-9A8CC11E8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7828" y="4536004"/>
            <a:ext cx="4291020" cy="21320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BD2F9D6-2E35-C40E-77E6-30CD569B0D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218892"/>
            <a:ext cx="4280648" cy="3218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995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B1DB-62D3-8D83-34AD-F88826407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B21A3-F2FB-D3DE-CD12-EDE2E6491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2) Cumulative sales per month for each 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3E199-D6B0-DCFA-B65B-681920521E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EC893A-1D0F-4390-33D1-666FDDCD7F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87A303-58EF-E9E9-C905-D43957C875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380" b="31342"/>
          <a:stretch>
            <a:fillRect/>
          </a:stretch>
        </p:blipFill>
        <p:spPr>
          <a:xfrm>
            <a:off x="409069" y="3902230"/>
            <a:ext cx="4086731" cy="27658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845AF5-E875-9ADE-608F-637C7E545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1304627"/>
            <a:ext cx="4038600" cy="24991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A677CC-FDA1-DC37-50E9-4CBEDC47C6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199" y="4730599"/>
            <a:ext cx="4190999" cy="19399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382C49-1015-19F2-CA26-97132BA450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231224"/>
            <a:ext cx="4190998" cy="340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639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0E386-B821-6152-F95E-86B2A46E2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520C0-F8C9-D10F-CAD3-ADBDDA155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3) Year-over-Year (YoY) growth rate of total sales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667C6-337E-5030-7386-C64ECB9107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54738A-EA87-BD8F-3D90-DAD706936C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0717E5-7346-F658-5CBE-486E4F1BE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169238"/>
            <a:ext cx="4038600" cy="15973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20DA94-8F2B-3D10-062F-73691A3EC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99200"/>
            <a:ext cx="4094017" cy="38715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2F0335-007A-F424-5E2E-96A26242C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4947780"/>
            <a:ext cx="4038600" cy="172030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66028F5-5D5B-687A-C184-C978604E8D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199199"/>
            <a:ext cx="4038599" cy="3650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675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7B944-6040-14AD-DA2B-5F167FCA4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631-E94E-D4DB-CD32-3818FC47D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4) Customer retention 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59D2C-7CF3-D1A9-FDB2-DA8DC10800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E772A5-1E54-A60F-54D4-E13563350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DE5A78-4A6C-A6EE-5B26-6A70302B6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579391"/>
            <a:ext cx="4038600" cy="10886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4776AA-3157-4E26-A4AC-B7165537A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01719"/>
            <a:ext cx="4038600" cy="427767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2D8B2F0-1FF8-8AD6-12E3-E40E2173DF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099" y="5945137"/>
            <a:ext cx="2544802" cy="82142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5A151B0-AC88-2D33-B4A6-A63A6BF45E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283154"/>
            <a:ext cx="4204855" cy="459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31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49A71-E1BA-DBE2-ABA1-10AC51C52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BA98C-32C1-F495-7FE8-99A2D34D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5) Top 3 customers by spending in each 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303FB-74E3-3570-AB3B-993F8045B0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55E825-7BAB-12C2-866D-89F39A01A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E3F4C0-274C-383E-C25F-1796EA1A7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4938194"/>
            <a:ext cx="4191000" cy="18343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4B86D1-E76B-44F7-946F-EDAFF07C7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13" y="1191395"/>
            <a:ext cx="4114788" cy="364234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1820931-1676-47D7-C58D-767FAAC5E5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199" y="4938194"/>
            <a:ext cx="4191000" cy="18283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D496DAD-2967-46D5-8F6A-FD78E7014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1" y="1191395"/>
            <a:ext cx="4190998" cy="3642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346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This project demonstrates full-stack analytical capability by combining SQL, Python, window functions, and validation methodology to transform raw transactional data into strategic business insights.</a:t>
            </a:r>
          </a:p>
          <a:p>
            <a:pPr algn="just"/>
            <a:r>
              <a:rPr lang="en-US" dirty="0"/>
              <a:t>Consistent cross-validation between SQL and Python ensures analytical accuracy and production-level reliability.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647</TotalTime>
  <Words>340</Words>
  <Application>Microsoft Office PowerPoint</Application>
  <PresentationFormat>On-screen Show (4:3)</PresentationFormat>
  <Paragraphs>61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SQL &amp; Python Business Analytics Project</vt:lpstr>
      <vt:lpstr>Project Objective</vt:lpstr>
      <vt:lpstr>BASIC  PROBLEMS</vt:lpstr>
      <vt:lpstr>1) List all unique cities where customers are located</vt:lpstr>
      <vt:lpstr>2) Count the number of orders placed in 2017</vt:lpstr>
      <vt:lpstr>3) Find the total sales per category</vt:lpstr>
      <vt:lpstr>4) Calculate the percentage of orders paid in installments</vt:lpstr>
      <vt:lpstr>5) Count the number of customers from each state</vt:lpstr>
      <vt:lpstr>INTERMEDIATE PROBLEMS</vt:lpstr>
      <vt:lpstr>1) Calculate the number of orders per month in 2018</vt:lpstr>
      <vt:lpstr>2) Find the average number of products per order, grouped by customer city</vt:lpstr>
      <vt:lpstr>3) Calculate the percentage of total revenue contributed by each product category</vt:lpstr>
      <vt:lpstr>4) Identify the correlation between product price and number of times purchased</vt:lpstr>
      <vt:lpstr>5) Calculate total revenue generated by each seller and rank them</vt:lpstr>
      <vt:lpstr>ADVANCE  PROBLEMS</vt:lpstr>
      <vt:lpstr>1) Moving average of order values for each customer</vt:lpstr>
      <vt:lpstr>2) Cumulative sales per month for each year</vt:lpstr>
      <vt:lpstr>3) Year-over-Year (YoY) growth rate of total sales</vt:lpstr>
      <vt:lpstr>4) Customer retention rate</vt:lpstr>
      <vt:lpstr>5) Top 3 customers by spending in each year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archi</dc:creator>
  <cp:keywords/>
  <dc:description>generated using python-pptx</dc:description>
  <cp:lastModifiedBy>archissave512@gmail.com</cp:lastModifiedBy>
  <cp:revision>14</cp:revision>
  <dcterms:created xsi:type="dcterms:W3CDTF">2013-01-27T09:14:16Z</dcterms:created>
  <dcterms:modified xsi:type="dcterms:W3CDTF">2026-02-26T20:20:08Z</dcterms:modified>
  <cp:category/>
</cp:coreProperties>
</file>