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362" r:id="rId4"/>
    <p:sldId id="344" r:id="rId5"/>
    <p:sldId id="345" r:id="rId6"/>
    <p:sldId id="346" r:id="rId7"/>
    <p:sldId id="347" r:id="rId8"/>
    <p:sldId id="348" r:id="rId9"/>
    <p:sldId id="361" r:id="rId10"/>
    <p:sldId id="349" r:id="rId11"/>
    <p:sldId id="350" r:id="rId12"/>
    <p:sldId id="351" r:id="rId13"/>
    <p:sldId id="352" r:id="rId14"/>
    <p:sldId id="353" r:id="rId15"/>
    <p:sldId id="363" r:id="rId16"/>
    <p:sldId id="354" r:id="rId17"/>
    <p:sldId id="355" r:id="rId18"/>
    <p:sldId id="356" r:id="rId19"/>
    <p:sldId id="357" r:id="rId20"/>
    <p:sldId id="358" r:id="rId21"/>
    <p:sldId id="265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1" d="100"/>
          <a:sy n="71" d="100"/>
        </p:scale>
        <p:origin x="630" y="-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Internship Project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SQL &amp; Python Data Analytics Project</a:t>
            </a:r>
          </a:p>
          <a:p>
            <a:r>
              <a:t>Insights &amp; Visual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15 business problems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Execute queries in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same problems in Python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Validate that outputs are identical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Demonstrate technical accuracy &amp; analytical consistency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DB312-9ECB-348B-870C-7EF00192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BASIC </a:t>
            </a:r>
            <a:br>
              <a:rPr lang="en-US" sz="6000" b="1" dirty="0"/>
            </a:br>
            <a:r>
              <a:rPr lang="en-US" sz="6000" b="1" dirty="0"/>
              <a:t>PROBLEMS</a:t>
            </a:r>
          </a:p>
        </p:txBody>
      </p:sp>
    </p:spTree>
    <p:extLst>
      <p:ext uri="{BB962C8B-B14F-4D97-AF65-F5344CB8AC3E}">
        <p14:creationId xmlns:p14="http://schemas.microsoft.com/office/powerpoint/2010/main" val="461963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C0727-E7CA-A146-AFBA-0F74F9C8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List all unique cities where customers are located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8AEA6-E68D-C8C1-8BF8-428A2BD004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FE988-9D90-963B-CF73-0B123A203D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133CE-A82E-9A13-0346-36E442D9EF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418" t="8132" r="57055" b="73974"/>
          <a:stretch>
            <a:fillRect/>
          </a:stretch>
        </p:blipFill>
        <p:spPr>
          <a:xfrm>
            <a:off x="457200" y="1312606"/>
            <a:ext cx="4038600" cy="11313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B855F0A-7AF5-169C-D30C-84CC800DF2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1" t="28440" r="8" b="1516"/>
          <a:stretch>
            <a:fillRect/>
          </a:stretch>
        </p:blipFill>
        <p:spPr>
          <a:xfrm>
            <a:off x="457200" y="2546902"/>
            <a:ext cx="4038600" cy="29984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F8AE724-7062-4EC2-42DD-6E333AAE20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148" t="93846"/>
          <a:stretch>
            <a:fillRect/>
          </a:stretch>
        </p:blipFill>
        <p:spPr>
          <a:xfrm>
            <a:off x="1072786" y="5811179"/>
            <a:ext cx="2515542" cy="8569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B382A5-0F37-8345-5A43-9F0318F58E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6740" r="57163"/>
          <a:stretch>
            <a:fillRect/>
          </a:stretch>
        </p:blipFill>
        <p:spPr>
          <a:xfrm>
            <a:off x="5298991" y="5689819"/>
            <a:ext cx="2964661" cy="92959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37059B-FF50-336E-C987-28B43F4E56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163" y="1312606"/>
            <a:ext cx="4029637" cy="432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577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AE4DB-6FD5-87E9-9672-ABB9112C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F063E-AE0C-455C-23BD-D367F1DD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2) Count the number of orders placed in 2017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92BF-BBF5-2D0E-2778-C39693401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FC399-BF07-563D-CEA4-7B0707DBE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B6954DA-CC80-965E-E3E9-BBBB60EE3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523734"/>
            <a:ext cx="4038600" cy="190526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FE7FC4-8EA6-D2F5-C90B-86544B0994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97" t="31464" r="3865"/>
          <a:stretch>
            <a:fillRect/>
          </a:stretch>
        </p:blipFill>
        <p:spPr>
          <a:xfrm>
            <a:off x="4495801" y="1335204"/>
            <a:ext cx="4190999" cy="129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275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C7176-E26C-4798-E19C-44041F019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C4D6C-EAB1-C6E2-FEF1-F09F25357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3) Find the total sales per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D4513-157B-F3A2-8DF2-8B73E064A6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48234-EC75-734B-2FFB-A44A4ABD69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CBFC40-33BF-CE5F-FD40-122C585153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935"/>
          <a:stretch>
            <a:fillRect/>
          </a:stretch>
        </p:blipFill>
        <p:spPr>
          <a:xfrm>
            <a:off x="457200" y="1537548"/>
            <a:ext cx="4038600" cy="14745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476C56-A61D-0440-E576-2D52F64BD63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792" t="93744"/>
          <a:stretch>
            <a:fillRect/>
          </a:stretch>
        </p:blipFill>
        <p:spPr>
          <a:xfrm>
            <a:off x="1319135" y="5624267"/>
            <a:ext cx="2023672" cy="831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1E0099-A39A-6804-DD24-B3909E8BF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8334" y="1537548"/>
            <a:ext cx="3948466" cy="46964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805CB20-086D-E7BA-7ADE-F04C0527AF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352" r="29523" b="30060"/>
          <a:stretch>
            <a:fillRect/>
          </a:stretch>
        </p:blipFill>
        <p:spPr>
          <a:xfrm>
            <a:off x="457200" y="3217037"/>
            <a:ext cx="4114800" cy="240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601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8B23F-B2FD-0652-91DC-79FA49E74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F519A-6556-405B-1733-E825C0B0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4) Calculate the percentage of orders paid in installments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C5F55-A4D3-18CB-7170-8F31F4D7D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54591D-B0ED-F770-CE51-4869CD003F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D98022-FE3F-62DA-428E-11688505F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650230"/>
            <a:ext cx="4038600" cy="244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19CEE35-2280-83EC-6F15-8E170B5AFE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38" t="26474" r="5424"/>
          <a:stretch>
            <a:fillRect/>
          </a:stretch>
        </p:blipFill>
        <p:spPr>
          <a:xfrm>
            <a:off x="4787152" y="1650230"/>
            <a:ext cx="3899648" cy="1496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550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A52D3-B5DA-13E1-DA82-096E43F1C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6A897-B1DE-590C-AF61-A1CECA358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5) Count the number of customers from each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86BD9-BC27-DFEB-9B85-49E8C47A1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223BDB-E6D5-C825-9A44-F299F59BF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290017-F970-150C-5478-76FDD89309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508969"/>
            <a:ext cx="4038600" cy="39624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49201E-612A-14C6-75ED-AAB2CE6C8E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380" t="93631"/>
          <a:stretch>
            <a:fillRect/>
          </a:stretch>
        </p:blipFill>
        <p:spPr>
          <a:xfrm>
            <a:off x="1274163" y="5817372"/>
            <a:ext cx="1963712" cy="7856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B610BB-3D25-CD64-6F20-A7D3E9A8A0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99"/>
          <a:stretch>
            <a:fillRect/>
          </a:stretch>
        </p:blipFill>
        <p:spPr>
          <a:xfrm>
            <a:off x="4648200" y="1508969"/>
            <a:ext cx="4038600" cy="39624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041761-C55A-4846-C6A3-C29B1C42257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5874" r="40829"/>
          <a:stretch>
            <a:fillRect/>
          </a:stretch>
        </p:blipFill>
        <p:spPr>
          <a:xfrm>
            <a:off x="5622045" y="5798411"/>
            <a:ext cx="2378955" cy="712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58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FAC9F-33EF-F466-50F8-C34A818A8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Autofit/>
          </a:bodyPr>
          <a:lstStyle/>
          <a:p>
            <a:r>
              <a:rPr lang="en-US" sz="6000" b="1" dirty="0"/>
              <a:t>INTERMEDIATE PROBLEMS</a:t>
            </a:r>
          </a:p>
        </p:txBody>
      </p:sp>
    </p:spTree>
    <p:extLst>
      <p:ext uri="{BB962C8B-B14F-4D97-AF65-F5344CB8AC3E}">
        <p14:creationId xmlns:p14="http://schemas.microsoft.com/office/powerpoint/2010/main" val="3507196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5721B-5342-CCDE-D5FF-1E1D4BAF4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0AB0C-BAB2-7457-6889-2B09C3F24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Calculate the number of orders per month in 2018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277EB-41F6-E15A-CCEA-DA0C2B7BA1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37C476-C253-8FAC-193D-BAB03F428D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C6FDDD-7FAD-3F7A-8EAB-8A38849A1A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144" b="22965"/>
          <a:stretch>
            <a:fillRect/>
          </a:stretch>
        </p:blipFill>
        <p:spPr>
          <a:xfrm>
            <a:off x="457200" y="1457184"/>
            <a:ext cx="4038600" cy="40964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900DAF-5EDF-BB8B-87AC-6465D7135A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1457184"/>
            <a:ext cx="4124901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226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5F1A8-7C89-DC6A-4629-63ED2B802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13FD-27AA-A2C7-078A-22472CD95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9111"/>
            <a:ext cx="9144000" cy="597559"/>
          </a:xfrm>
        </p:spPr>
        <p:txBody>
          <a:bodyPr>
            <a:noAutofit/>
          </a:bodyPr>
          <a:lstStyle/>
          <a:p>
            <a:r>
              <a:rPr lang="en-US" sz="2400" dirty="0"/>
              <a:t>2) Find the average number of products per order, grouped by customer 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F50E4-0629-D8DD-BB40-0DA56B6276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818AD8-0EBB-DFEE-EC94-6E151E480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38BFC1-1294-6BD3-4568-FE419F1CBA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791"/>
          <a:stretch>
            <a:fillRect/>
          </a:stretch>
        </p:blipFill>
        <p:spPr>
          <a:xfrm>
            <a:off x="457200" y="4162749"/>
            <a:ext cx="4191000" cy="19824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BF6635-98E9-8B9B-5F69-B6BA007959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742" t="94728"/>
          <a:stretch>
            <a:fillRect/>
          </a:stretch>
        </p:blipFill>
        <p:spPr>
          <a:xfrm>
            <a:off x="1618312" y="6148556"/>
            <a:ext cx="1769465" cy="5195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379F4B-0095-8D01-8841-0045F23CE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496" y="1312469"/>
            <a:ext cx="4010303" cy="26299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3D2BA1-F412-16AF-2DC7-E8634A1F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83" t="10010" r="21209"/>
          <a:stretch>
            <a:fillRect/>
          </a:stretch>
        </p:blipFill>
        <p:spPr>
          <a:xfrm>
            <a:off x="4648199" y="1312469"/>
            <a:ext cx="4038601" cy="483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6489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12FE-E4FC-0124-4B55-9CBE019E2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A8861-98DD-5E40-6442-ED6914E3B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27"/>
            <a:ext cx="9144000" cy="597559"/>
          </a:xfrm>
        </p:spPr>
        <p:txBody>
          <a:bodyPr>
            <a:noAutofit/>
          </a:bodyPr>
          <a:lstStyle/>
          <a:p>
            <a:r>
              <a:rPr lang="en-US" sz="2300" dirty="0"/>
              <a:t>3) Calculate the percentage of total revenue contributed by each product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E932A-3C69-F6B3-1CD4-D8A008A0CF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7C8976-6259-94B7-64DB-851498BEB1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810FB9-0810-4656-3361-27C27FA07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300945"/>
            <a:ext cx="4038600" cy="48536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CB6A82-5FCD-D8BC-9349-1604EED11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663" t="95168"/>
          <a:stretch>
            <a:fillRect/>
          </a:stretch>
        </p:blipFill>
        <p:spPr>
          <a:xfrm>
            <a:off x="1528995" y="6294088"/>
            <a:ext cx="1683553" cy="5639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E33EC4-B147-1121-8090-1B52FABB3C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06" t="7580"/>
          <a:stretch>
            <a:fillRect/>
          </a:stretch>
        </p:blipFill>
        <p:spPr>
          <a:xfrm>
            <a:off x="4814047" y="1300945"/>
            <a:ext cx="3872751" cy="536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1614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740C8-506D-290E-22B3-DCDEFF23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38E25-CD12-2290-2CCE-84BF84F1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Autofit/>
          </a:bodyPr>
          <a:lstStyle/>
          <a:p>
            <a:r>
              <a:rPr lang="en-US" sz="2300" dirty="0"/>
              <a:t>4) Identify the correlation between product price and number of times purchased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9262E-1204-8530-1796-1D63FFB5E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1C5EE-E35B-5B36-8EED-1559EAB5CA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3919F0-C77D-22AA-9C50-796501DDB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458151"/>
            <a:ext cx="4038600" cy="42106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987A249-F484-A8E3-63E4-07A1B576FF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131" t="93433"/>
          <a:stretch>
            <a:fillRect/>
          </a:stretch>
        </p:blipFill>
        <p:spPr>
          <a:xfrm>
            <a:off x="1694329" y="5891919"/>
            <a:ext cx="1680883" cy="6440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BF623E-20D5-DA6E-0301-10658AFE027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98" t="8489" r="3210"/>
          <a:stretch>
            <a:fillRect/>
          </a:stretch>
        </p:blipFill>
        <p:spPr>
          <a:xfrm>
            <a:off x="4648200" y="1458150"/>
            <a:ext cx="4038599" cy="496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85629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DB26-00B9-5F04-C58E-97D0DA6E3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BAA09-1F9C-806A-3C9B-9367250EC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5) Calculate total revenue generated by each seller and rank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1CDEC-02B8-CFEF-CA6E-30C91FE31F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0BB05-2BBC-4640-8ECE-71FE4C2B5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904497-0BB6-0665-E170-663486323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08917"/>
            <a:ext cx="4038600" cy="40430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0E9CD3-9520-32DC-5A95-D78861916BA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2464" t="94453"/>
          <a:stretch>
            <a:fillRect/>
          </a:stretch>
        </p:blipFill>
        <p:spPr>
          <a:xfrm>
            <a:off x="1452282" y="5648756"/>
            <a:ext cx="1949824" cy="6174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750382D-6A53-2B34-B323-0B28510A45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91" t="7325" r="3053"/>
          <a:stretch>
            <a:fillRect/>
          </a:stretch>
        </p:blipFill>
        <p:spPr>
          <a:xfrm>
            <a:off x="4648200" y="1308916"/>
            <a:ext cx="4038600" cy="4845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7014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69619-8765-9DAD-74A0-388AA0FA0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sz="6000" b="1" dirty="0"/>
              <a:t>ADVANCE </a:t>
            </a:r>
            <a:br>
              <a:rPr lang="en-US" sz="6000" b="1" dirty="0"/>
            </a:br>
            <a:r>
              <a:rPr lang="en-US" sz="6000" b="1" dirty="0"/>
              <a:t>PROBLEMS</a:t>
            </a:r>
          </a:p>
        </p:txBody>
      </p:sp>
    </p:spTree>
    <p:extLst>
      <p:ext uri="{BB962C8B-B14F-4D97-AF65-F5344CB8AC3E}">
        <p14:creationId xmlns:p14="http://schemas.microsoft.com/office/powerpoint/2010/main" val="708009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B95B8-C0AA-AAA1-670D-86BA69905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8DB7A-692D-5C52-779D-8BDB5FA1F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1) Moving average of order values for each 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3523A-26C7-4BC0-4FAE-2D94174A27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18C936-CC0B-B631-E892-404B0C4FE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C997BC-221B-C9C5-ADB0-E7C678ED5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59005"/>
            <a:ext cx="4038600" cy="26271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CFEAE20-223E-83D1-A4F6-FB808041D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5605"/>
          <a:stretch>
            <a:fillRect/>
          </a:stretch>
        </p:blipFill>
        <p:spPr>
          <a:xfrm>
            <a:off x="457200" y="3963545"/>
            <a:ext cx="4038600" cy="21910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4E97A7-C6E0-19B0-2863-6ADDAA41D2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938" r="38224" b="41941"/>
          <a:stretch>
            <a:fillRect/>
          </a:stretch>
        </p:blipFill>
        <p:spPr>
          <a:xfrm>
            <a:off x="4648200" y="1208219"/>
            <a:ext cx="4038600" cy="30544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4B3DC3E-AE24-12E5-E1E7-602A742CC2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909" t="94238"/>
          <a:stretch>
            <a:fillRect/>
          </a:stretch>
        </p:blipFill>
        <p:spPr>
          <a:xfrm>
            <a:off x="1795182" y="6182735"/>
            <a:ext cx="1771383" cy="56269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0310CD7-05FD-51C7-F16F-B874F07393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4361193"/>
            <a:ext cx="4199965" cy="219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9950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B1DB-62D3-8D83-34AD-F8882640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B21A3-F2FB-D3DE-CD12-EDE2E6491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2) Cumulative sales per month for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E199-D6B0-DCFA-B65B-681920521E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EC893A-1D0F-4390-33D1-666FDDCD7F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7BC3EE-578B-233B-698B-138310449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25"/>
            <a:ext cx="4038600" cy="29135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88418B-B717-BDA6-22D6-FA7D5366A2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269"/>
          <a:stretch>
            <a:fillRect/>
          </a:stretch>
        </p:blipFill>
        <p:spPr>
          <a:xfrm>
            <a:off x="457201" y="4395531"/>
            <a:ext cx="4038600" cy="22725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FBC63C-EE74-2FE2-7DDF-5BB065BC62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95" t="89000" r="66626" b="2228"/>
          <a:stretch>
            <a:fillRect/>
          </a:stretch>
        </p:blipFill>
        <p:spPr>
          <a:xfrm>
            <a:off x="5997387" y="6154614"/>
            <a:ext cx="1348979" cy="513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CBE983-D8AB-7F4F-4E43-9C9582D98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8200" y="1295425"/>
            <a:ext cx="4038600" cy="4676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639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0E386-B821-6152-F95E-86B2A46E2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520C0-F8C9-D10F-CAD3-ADBDDA1557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3) Year-over-Year (YoY) growth rate of total sales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0667C6-337E-5030-7386-C64ECB9107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54738A-EA87-BD8F-3D90-DAD706936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819781-441B-B12D-2B17-40EBFBF16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9665"/>
            <a:ext cx="4038600" cy="343680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FB1067-0D03-BFC8-E08E-E9C0C4CF4C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4726"/>
          <a:stretch>
            <a:fillRect/>
          </a:stretch>
        </p:blipFill>
        <p:spPr>
          <a:xfrm>
            <a:off x="457200" y="4969963"/>
            <a:ext cx="4191000" cy="14346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A5F573-B955-A69D-6E3B-64128DC1E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269665"/>
            <a:ext cx="4038600" cy="5134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675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7B944-6040-14AD-DA2B-5F167FCA4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631-E94E-D4DB-CD32-3818FC47D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4) Customer retention 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59D2C-7CF3-D1A9-FDB2-DA8DC10800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E772A5-1E54-A60F-54D4-E13563350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B70453-45DE-7FC3-8553-D38EF3AA6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71260"/>
            <a:ext cx="4038600" cy="41403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C1EA387-F6B0-C236-60D5-97B791DAED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1683" r="9481"/>
          <a:stretch>
            <a:fillRect/>
          </a:stretch>
        </p:blipFill>
        <p:spPr>
          <a:xfrm>
            <a:off x="457201" y="5559565"/>
            <a:ext cx="4038600" cy="8605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A519DF6-DFC8-05EE-5E9E-323BF1B26E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171260"/>
            <a:ext cx="4038600" cy="5248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7631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49A71-E1BA-DBE2-ABA1-10AC51C52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BA98C-32C1-F495-7FE8-99A2D34D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352"/>
            <a:ext cx="9144000" cy="597559"/>
          </a:xfrm>
        </p:spPr>
        <p:txBody>
          <a:bodyPr>
            <a:normAutofit/>
          </a:bodyPr>
          <a:lstStyle/>
          <a:p>
            <a:r>
              <a:rPr lang="en-US" sz="2800" dirty="0"/>
              <a:t>5) Top 3 customers by spending in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303FB-74E3-3570-AB3B-993F8045B0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703386"/>
            <a:ext cx="4038600" cy="5964700"/>
          </a:xfrm>
        </p:spPr>
        <p:txBody>
          <a:bodyPr/>
          <a:lstStyle/>
          <a:p>
            <a:r>
              <a:rPr lang="en-US" dirty="0"/>
              <a:t>SQL Code: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55E825-7BAB-12C2-866D-89F39A01A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703386"/>
            <a:ext cx="4038600" cy="5964700"/>
          </a:xfrm>
        </p:spPr>
        <p:txBody>
          <a:bodyPr/>
          <a:lstStyle/>
          <a:p>
            <a:r>
              <a:rPr lang="en-US" dirty="0"/>
              <a:t>Python Code: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9CDF64-35CC-3FFD-9AA3-E2FD26F22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62189"/>
            <a:ext cx="4038600" cy="37146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DF07A9-7927-1ACF-8A10-E9F4CEF82A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500" b="2509"/>
          <a:stretch>
            <a:fillRect/>
          </a:stretch>
        </p:blipFill>
        <p:spPr>
          <a:xfrm>
            <a:off x="457200" y="4980271"/>
            <a:ext cx="4038600" cy="17862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681147-98E9-A071-6107-78D30FCD36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1162188"/>
            <a:ext cx="4038600" cy="550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3465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This project demonstrates full-stack analytical capability by combining SQL, Python, window functions, and validation methodology to transform raw transactional data into strategic business insights.</a:t>
            </a:r>
          </a:p>
          <a:p>
            <a:pPr algn="just"/>
            <a:r>
              <a:rPr lang="en-US" dirty="0"/>
              <a:t>Consistent cross-validation between SQL and Python ensures analytical accuracy and production-level reliability.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408</TotalTime>
  <Words>335</Words>
  <Application>Microsoft Office PowerPoint</Application>
  <PresentationFormat>On-screen Show (4:3)</PresentationFormat>
  <Paragraphs>60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Internship Project</vt:lpstr>
      <vt:lpstr>Project Objective</vt:lpstr>
      <vt:lpstr>BASIC  PROBLEMS</vt:lpstr>
      <vt:lpstr>1) List all unique cities where customers are located</vt:lpstr>
      <vt:lpstr>2) Count the number of orders placed in 2017</vt:lpstr>
      <vt:lpstr>3) Find the total sales per category</vt:lpstr>
      <vt:lpstr>4) Calculate the percentage of orders paid in installments</vt:lpstr>
      <vt:lpstr>5) Count the number of customers from each state</vt:lpstr>
      <vt:lpstr>INTERMEDIATE PROBLEMS</vt:lpstr>
      <vt:lpstr>1) Calculate the number of orders per month in 2018</vt:lpstr>
      <vt:lpstr>2) Find the average number of products per order, grouped by customer city</vt:lpstr>
      <vt:lpstr>3) Calculate the percentage of total revenue contributed by each product category</vt:lpstr>
      <vt:lpstr>4) Identify the correlation between product price and number of times purchased</vt:lpstr>
      <vt:lpstr>5) Calculate total revenue generated by each seller and rank them</vt:lpstr>
      <vt:lpstr>ADVANCE  PROBLEMS</vt:lpstr>
      <vt:lpstr>1) Moving average of order values for each customer</vt:lpstr>
      <vt:lpstr>2) Cumulative sales per month for each year</vt:lpstr>
      <vt:lpstr>3) Year-over-Year (YoY) growth rate of total sales</vt:lpstr>
      <vt:lpstr>4) Customer retention rate</vt:lpstr>
      <vt:lpstr>5) Top 3 customers by spending in each year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archi</dc:creator>
  <cp:keywords/>
  <dc:description>generated using python-pptx</dc:description>
  <cp:lastModifiedBy>archissave512@gmail.com</cp:lastModifiedBy>
  <cp:revision>5</cp:revision>
  <dcterms:created xsi:type="dcterms:W3CDTF">2013-01-27T09:14:16Z</dcterms:created>
  <dcterms:modified xsi:type="dcterms:W3CDTF">2026-02-19T10:27:58Z</dcterms:modified>
  <cp:category/>
</cp:coreProperties>
</file>