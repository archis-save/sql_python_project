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362" r:id="rId4"/>
    <p:sldId id="344" r:id="rId5"/>
    <p:sldId id="345" r:id="rId6"/>
    <p:sldId id="346" r:id="rId7"/>
    <p:sldId id="347" r:id="rId8"/>
    <p:sldId id="348" r:id="rId9"/>
    <p:sldId id="361" r:id="rId10"/>
    <p:sldId id="349" r:id="rId11"/>
    <p:sldId id="350" r:id="rId12"/>
    <p:sldId id="351" r:id="rId13"/>
    <p:sldId id="352" r:id="rId14"/>
    <p:sldId id="353" r:id="rId15"/>
    <p:sldId id="363" r:id="rId16"/>
    <p:sldId id="354" r:id="rId17"/>
    <p:sldId id="355" r:id="rId18"/>
    <p:sldId id="356" r:id="rId19"/>
    <p:sldId id="357" r:id="rId20"/>
    <p:sldId id="358" r:id="rId21"/>
    <p:sldId id="265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7C72B-7FE4-40F9-9F34-047476074CE6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FE6AF-D59C-497F-8C27-671D0395D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0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FE6AF-D59C-497F-8C27-671D0395D0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55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&amp; Python Business Analytics Project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SQL &amp; Python Data Analytics Project</a:t>
            </a:r>
          </a:p>
          <a:p>
            <a:r>
              <a:t>Insights &amp; Visual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 15 business problems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Execute queries in SQL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Solve same problems in Python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Validate that outputs are identical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Demonstrate technical accuracy &amp; analytical 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DB312-9ECB-348B-870C-7EF001926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6000" b="1" dirty="0"/>
              <a:t>BASIC </a:t>
            </a:r>
            <a:br>
              <a:rPr lang="en-US" sz="6000" b="1" dirty="0"/>
            </a:br>
            <a:r>
              <a:rPr lang="en-US" sz="6000" b="1" dirty="0"/>
              <a:t>PROBLEMS</a:t>
            </a:r>
          </a:p>
        </p:txBody>
      </p:sp>
    </p:spTree>
    <p:extLst>
      <p:ext uri="{BB962C8B-B14F-4D97-AF65-F5344CB8AC3E}">
        <p14:creationId xmlns:p14="http://schemas.microsoft.com/office/powerpoint/2010/main" val="46196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0727-E7CA-A146-AFBA-0F74F9C83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9131"/>
            <a:ext cx="9144000" cy="597559"/>
          </a:xfrm>
        </p:spPr>
        <p:txBody>
          <a:bodyPr>
            <a:normAutofit/>
          </a:bodyPr>
          <a:lstStyle/>
          <a:p>
            <a:r>
              <a:rPr lang="en-US" sz="2800" dirty="0"/>
              <a:t>1) List all unique cities where customers are located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8AEA6-E68D-C8C1-8BF8-428A2BD00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970670"/>
            <a:ext cx="4038600" cy="5697416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1FE988-9D90-963B-CF73-0B123A203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970670"/>
            <a:ext cx="4038600" cy="5697415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B24962-E093-ABF3-8DBA-4474910B2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616724"/>
            <a:ext cx="4191001" cy="154726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F885A3-9795-1E68-6709-82AEE160F1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273" b="39758"/>
          <a:stretch>
            <a:fillRect/>
          </a:stretch>
        </p:blipFill>
        <p:spPr>
          <a:xfrm>
            <a:off x="304800" y="3296494"/>
            <a:ext cx="4190999" cy="32390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DDB0BDD-8148-7A75-A337-4992414F3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197" y="1544589"/>
            <a:ext cx="4038599" cy="289544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76B4F75-327C-043B-5EA1-AAB0E62CC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496" y="3929546"/>
            <a:ext cx="2009132" cy="5104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2D99D37-D16E-23BD-59F4-052AC9D898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198" y="4542020"/>
            <a:ext cx="4038599" cy="212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77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AE4DB-6FD5-87E9-9672-ABB9112C3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063E-AE0C-455C-23BD-D367F1DD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1971"/>
            <a:ext cx="9144000" cy="597559"/>
          </a:xfrm>
        </p:spPr>
        <p:txBody>
          <a:bodyPr>
            <a:normAutofit/>
          </a:bodyPr>
          <a:lstStyle/>
          <a:p>
            <a:r>
              <a:rPr lang="en-US" sz="2800" dirty="0"/>
              <a:t>2) Count the number of orders placed in 2017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492BF-BBF5-2D0E-2778-C39693401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049310"/>
            <a:ext cx="4038600" cy="5618775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FC399-BF07-563D-CEA4-7B0707DBE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049310"/>
            <a:ext cx="4038600" cy="5618776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A3982A-00FE-32BC-B596-E87393E10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9141"/>
            <a:ext cx="4114800" cy="2092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71C56D-2A3D-D3D4-99DE-061A20841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51343"/>
            <a:ext cx="4114800" cy="22145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1E59DA-AEFB-C51D-983B-4222030CE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3831563"/>
            <a:ext cx="4038598" cy="28365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A0BC39-5CD5-5EE4-CF67-CBF6F9C38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2" y="1760000"/>
            <a:ext cx="4038598" cy="1851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75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C7176-E26C-4798-E19C-44041F01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C4D6C-EAB1-C6E2-FEF1-F09F25357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433"/>
            <a:ext cx="9144000" cy="597559"/>
          </a:xfrm>
        </p:spPr>
        <p:txBody>
          <a:bodyPr>
            <a:normAutofit/>
          </a:bodyPr>
          <a:lstStyle/>
          <a:p>
            <a:r>
              <a:rPr lang="en-US" sz="2800" dirty="0"/>
              <a:t>3) Find the total sales per category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D4513-157B-F3A2-8DF2-8B73E064A6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809468"/>
            <a:ext cx="4038600" cy="5858618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48234-EC75-734B-2FFB-A44A4ABD6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809468"/>
            <a:ext cx="4038600" cy="5858617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DFB9D2-ED32-4B0F-5074-9F24127DC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484306"/>
            <a:ext cx="4038600" cy="18111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498183C-3FA6-5511-5BCE-050743D6CC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943" b="34207"/>
          <a:stretch>
            <a:fillRect/>
          </a:stretch>
        </p:blipFill>
        <p:spPr>
          <a:xfrm>
            <a:off x="457199" y="3527475"/>
            <a:ext cx="4037351" cy="32390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EDACFE0-462D-8666-8085-6CAF043CE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449" y="4302177"/>
            <a:ext cx="4037351" cy="24643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0BC51B2-694E-868D-2FAD-158CD49F3F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1484306"/>
            <a:ext cx="4038600" cy="271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601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8B23F-B2FD-0652-91DC-79FA49E74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F519A-6556-405B-1733-E825C0B0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6131"/>
            <a:ext cx="9144000" cy="597559"/>
          </a:xfrm>
        </p:spPr>
        <p:txBody>
          <a:bodyPr>
            <a:normAutofit/>
          </a:bodyPr>
          <a:lstStyle/>
          <a:p>
            <a:r>
              <a:rPr lang="en-US" sz="2800" dirty="0"/>
              <a:t>4) Calculate the percentage of orders paid in installments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C5F55-A4D3-18CB-7170-8F31F4D7D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59174"/>
            <a:ext cx="4038600" cy="5408912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54591D-B0ED-F770-CE51-4869CD003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59174"/>
            <a:ext cx="4038600" cy="5408912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A36E1D-0879-3360-F098-96469C7A4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1625"/>
            <a:ext cx="4038600" cy="24755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EF1358-51BC-75C3-D062-F22F3CA0E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07141"/>
            <a:ext cx="4038600" cy="14474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885503-2739-CE16-786E-D8E901F2C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871624"/>
            <a:ext cx="4038600" cy="21607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5A62F3-DF8F-5A16-AD8F-A907E8C74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199" y="4158848"/>
            <a:ext cx="4038599" cy="259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55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A52D3-B5DA-13E1-DA82-096E43F1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6A897-B1DE-590C-AF61-A1CECA358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2"/>
            <a:ext cx="9144000" cy="597559"/>
          </a:xfrm>
        </p:spPr>
        <p:txBody>
          <a:bodyPr>
            <a:normAutofit/>
          </a:bodyPr>
          <a:lstStyle/>
          <a:p>
            <a:r>
              <a:rPr lang="en-US" sz="2800" dirty="0"/>
              <a:t>5) Count the number of customers from each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6BD9-BC27-DFEB-9B85-49E8C47A1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506437"/>
            <a:ext cx="4038600" cy="6161649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23BDB-E6D5-C825-9A44-F299F59BF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506437"/>
            <a:ext cx="4038600" cy="6161649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18F437-8C8E-E4E6-8CFD-64808BEF0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03996"/>
            <a:ext cx="4038600" cy="18345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84E0B6-0144-66E3-7741-5A774FE6E5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201" b="36611"/>
          <a:stretch>
            <a:fillRect/>
          </a:stretch>
        </p:blipFill>
        <p:spPr>
          <a:xfrm>
            <a:off x="457200" y="3255580"/>
            <a:ext cx="4038600" cy="336326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4D8FFFA-CF5C-DBD6-8E31-DBCBDD4D06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4245118"/>
            <a:ext cx="4038600" cy="23737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51DAF0-5601-C743-E5FF-5A0FCB00A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1103996"/>
            <a:ext cx="3972501" cy="30918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FCAB53D-4E94-8D0F-C9D2-A296AD2D6D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6388" y="3587261"/>
            <a:ext cx="1474313" cy="59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58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AC9F-33EF-F466-50F8-C34A818A8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Autofit/>
          </a:bodyPr>
          <a:lstStyle/>
          <a:p>
            <a:r>
              <a:rPr lang="en-US" sz="6000" b="1" dirty="0"/>
              <a:t>INTERMEDIATE PROBLEMS</a:t>
            </a:r>
          </a:p>
        </p:txBody>
      </p:sp>
    </p:spTree>
    <p:extLst>
      <p:ext uri="{BB962C8B-B14F-4D97-AF65-F5344CB8AC3E}">
        <p14:creationId xmlns:p14="http://schemas.microsoft.com/office/powerpoint/2010/main" val="3507196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5721B-5342-CCDE-D5FF-1E1D4BAF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0AB0C-BAB2-7457-6889-2B09C3F24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2"/>
            <a:ext cx="9144000" cy="597559"/>
          </a:xfrm>
        </p:spPr>
        <p:txBody>
          <a:bodyPr>
            <a:normAutofit/>
          </a:bodyPr>
          <a:lstStyle/>
          <a:p>
            <a:r>
              <a:rPr lang="en-US" sz="2800" dirty="0"/>
              <a:t>1) Calculate the number of orders per month in 2018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277EB-41F6-E15A-CCEA-DA0C2B7BA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703386"/>
            <a:ext cx="4038600" cy="5964700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7C476-C253-8FAC-193D-BAB03F428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703386"/>
            <a:ext cx="4038600" cy="5964700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14A78D-9C1D-1688-A055-9483716C3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268319"/>
            <a:ext cx="4038600" cy="1868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C5E1A2-1C58-14F5-7270-EAF3B7EB9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3235568"/>
            <a:ext cx="4038599" cy="34325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C98C69-9DF7-7830-454C-83603E025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1" y="4148877"/>
            <a:ext cx="4038598" cy="26176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2D8E21-C893-508E-11AB-ABB0346C8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1" y="1268319"/>
            <a:ext cx="4038600" cy="278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226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5F1A8-7C89-DC6A-4629-63ED2B80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313FD-27AA-A2C7-078A-22472CD95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9111"/>
            <a:ext cx="9144000" cy="597559"/>
          </a:xfrm>
        </p:spPr>
        <p:txBody>
          <a:bodyPr>
            <a:noAutofit/>
          </a:bodyPr>
          <a:lstStyle/>
          <a:p>
            <a:r>
              <a:rPr lang="en-US" sz="2400" dirty="0"/>
              <a:t>2) Find the average number of products per order, grouped by customer 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F50E4-0629-D8DD-BB40-0DA56B627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703386"/>
            <a:ext cx="4038600" cy="5964700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18AD8-0EBB-DFEE-EC94-6E151E480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703386"/>
            <a:ext cx="4038600" cy="5964700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7CF401-DE99-F02D-F1B3-6D6A02276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5367"/>
            <a:ext cx="4038600" cy="23213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41AD17-FBC4-08E7-C3AA-7ED77D35D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616" b="35908"/>
          <a:stretch>
            <a:fillRect/>
          </a:stretch>
        </p:blipFill>
        <p:spPr>
          <a:xfrm>
            <a:off x="457200" y="3622394"/>
            <a:ext cx="4038599" cy="30456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D99884-AF4C-CDF6-97E2-5C7FD3788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4537460"/>
            <a:ext cx="4038599" cy="213062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38F54F-38B0-70E7-4E57-BE1A3451F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1221233"/>
            <a:ext cx="4038600" cy="313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48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B12FE-E4FC-0124-4B55-9CBE019E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8861-98DD-5E40-6442-ED6914E3B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5827"/>
            <a:ext cx="9144000" cy="597559"/>
          </a:xfrm>
        </p:spPr>
        <p:txBody>
          <a:bodyPr>
            <a:noAutofit/>
          </a:bodyPr>
          <a:lstStyle/>
          <a:p>
            <a:r>
              <a:rPr lang="en-US" sz="2300" dirty="0"/>
              <a:t>3) Calculate the percentage of total revenue contributed by each product category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E932A-3C69-F6B3-1CD4-D8A008A0CF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703386"/>
            <a:ext cx="4038600" cy="5964700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7C8976-6259-94B7-64DB-851498BEB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703386"/>
            <a:ext cx="4038600" cy="5964700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AA0A19-9C32-D8B9-FB77-BDC921FE3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54" y="1300945"/>
            <a:ext cx="4038600" cy="22385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B5DF6E-0368-6E17-0311-8D1759E185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9661" b="36486"/>
          <a:stretch>
            <a:fillRect/>
          </a:stretch>
        </p:blipFill>
        <p:spPr>
          <a:xfrm>
            <a:off x="408709" y="3623034"/>
            <a:ext cx="4067217" cy="30450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357E0CA-8F48-BD25-15C6-EA081B48E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300945"/>
            <a:ext cx="4038600" cy="536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161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740C8-506D-290E-22B3-DCDEFF238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8E25-CD12-2290-2CCE-84BF84F13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2"/>
            <a:ext cx="9144000" cy="597559"/>
          </a:xfrm>
        </p:spPr>
        <p:txBody>
          <a:bodyPr>
            <a:noAutofit/>
          </a:bodyPr>
          <a:lstStyle/>
          <a:p>
            <a:r>
              <a:rPr lang="en-US" sz="2300" dirty="0"/>
              <a:t>4) Identify the correlation between product price and number of times purchased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9262E-1204-8530-1796-1D63FFB5E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703386"/>
            <a:ext cx="4038600" cy="5964700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1C5EE-E35B-5B36-8EED-1559EAB5C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703386"/>
            <a:ext cx="4038600" cy="5964700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88A92F-4A76-A812-B8ED-8AA53E23E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96515"/>
            <a:ext cx="4038600" cy="16654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36935B-23B3-E30F-23A8-71FA2F989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199" y="4698036"/>
            <a:ext cx="4038599" cy="21599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7DBAC8-319E-868A-2EFE-5B82F52B6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396515"/>
            <a:ext cx="4038599" cy="31722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EBC4A1A-C842-9866-53F6-6F37F6E6D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1" y="3158887"/>
            <a:ext cx="4038600" cy="360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562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4DB26-00B9-5F04-C58E-97D0DA6E3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BAA09-1F9C-806A-3C9B-9367250EC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2"/>
            <a:ext cx="9144000" cy="597559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5) Calculate total revenue generated by each seller and rank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1CDEC-02B8-CFEF-CA6E-30C91FE31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703386"/>
            <a:ext cx="4038600" cy="5964700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0BB05-2BBC-4640-8ECE-71FE4C2B5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703386"/>
            <a:ext cx="4038600" cy="5964700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7B9257-EDA1-5292-E169-0A4236C66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5929"/>
            <a:ext cx="4038600" cy="21730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03777E-346B-3543-69A4-6F7768BFE6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322" b="35718"/>
          <a:stretch>
            <a:fillRect/>
          </a:stretch>
        </p:blipFill>
        <p:spPr>
          <a:xfrm>
            <a:off x="457199" y="3568123"/>
            <a:ext cx="4043651" cy="30999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32BF86-5B31-74D2-EEE6-73F300F8E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4601742"/>
            <a:ext cx="4038600" cy="20663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BB95CC-A985-E563-35C3-86D97AA18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1255929"/>
            <a:ext cx="4038600" cy="328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701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69619-8765-9DAD-74A0-388AA0FA0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6000" b="1" dirty="0"/>
              <a:t>ADVANCE </a:t>
            </a:r>
            <a:br>
              <a:rPr lang="en-US" sz="6000" b="1" dirty="0"/>
            </a:br>
            <a:r>
              <a:rPr lang="en-US" sz="6000" b="1" dirty="0"/>
              <a:t>PROBLEMS</a:t>
            </a:r>
          </a:p>
        </p:txBody>
      </p:sp>
    </p:spTree>
    <p:extLst>
      <p:ext uri="{BB962C8B-B14F-4D97-AF65-F5344CB8AC3E}">
        <p14:creationId xmlns:p14="http://schemas.microsoft.com/office/powerpoint/2010/main" val="708009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B95B8-C0AA-AAA1-670D-86BA69905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8DB7A-692D-5C52-779D-8BDB5FA1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2"/>
            <a:ext cx="9144000" cy="597559"/>
          </a:xfrm>
        </p:spPr>
        <p:txBody>
          <a:bodyPr>
            <a:normAutofit/>
          </a:bodyPr>
          <a:lstStyle/>
          <a:p>
            <a:r>
              <a:rPr lang="en-US" sz="2800" dirty="0"/>
              <a:t>1) Moving average of order values for each customer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3523A-26C7-4BC0-4FAE-2D94174A27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703386"/>
            <a:ext cx="4038600" cy="5964700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8C936-CC0B-B631-E892-404B0C4FE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703386"/>
            <a:ext cx="4038600" cy="5964700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EF273-9E92-43FD-D962-CE093D39DD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362" b="30017"/>
          <a:stretch>
            <a:fillRect/>
          </a:stretch>
        </p:blipFill>
        <p:spPr>
          <a:xfrm>
            <a:off x="457199" y="3950038"/>
            <a:ext cx="4048976" cy="2718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5239E3-D186-42A1-DA65-0196ECECD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218891"/>
            <a:ext cx="4038600" cy="26326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8B80FB-5279-F723-B1F8-69536AC31D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482"/>
          <a:stretch>
            <a:fillRect/>
          </a:stretch>
        </p:blipFill>
        <p:spPr>
          <a:xfrm>
            <a:off x="4648200" y="4242216"/>
            <a:ext cx="4038600" cy="24258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3EF098A-9B24-EF6A-FFEB-0956CFF558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313" b="47179"/>
          <a:stretch>
            <a:fillRect/>
          </a:stretch>
        </p:blipFill>
        <p:spPr>
          <a:xfrm>
            <a:off x="4648200" y="1176639"/>
            <a:ext cx="4038600" cy="296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95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8B1DB-62D3-8D83-34AD-F88826407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B21A3-F2FB-D3DE-CD12-EDE2E6491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2"/>
            <a:ext cx="9144000" cy="597559"/>
          </a:xfrm>
        </p:spPr>
        <p:txBody>
          <a:bodyPr>
            <a:normAutofit/>
          </a:bodyPr>
          <a:lstStyle/>
          <a:p>
            <a:r>
              <a:rPr lang="en-US" sz="2800" dirty="0"/>
              <a:t>2) Cumulative sales per month for each 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3E199-D6B0-DCFA-B65B-681920521E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703386"/>
            <a:ext cx="4038600" cy="5964700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C893A-1D0F-4390-33D1-666FDDCD7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703386"/>
            <a:ext cx="4038600" cy="5964700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87A303-58EF-E9E9-C905-D43957C875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380" b="31342"/>
          <a:stretch>
            <a:fillRect/>
          </a:stretch>
        </p:blipFill>
        <p:spPr>
          <a:xfrm>
            <a:off x="409069" y="3902230"/>
            <a:ext cx="4086731" cy="27658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0845AF5-E875-9ADE-608F-637C7E545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304627"/>
            <a:ext cx="4038600" cy="24991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25C3B7-F173-4F1C-F7F6-1BD7582C3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4512039"/>
            <a:ext cx="4038600" cy="215604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935181E-AF88-E134-8EDA-6E9C23DE2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199" y="1302206"/>
            <a:ext cx="4038600" cy="31113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D5B03B-0F09-9F99-657E-CFAD465CB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5023" y="3685736"/>
            <a:ext cx="989352" cy="64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39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E386-B821-6152-F95E-86B2A46E2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520C0-F8C9-D10F-CAD3-ADBDDA15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2"/>
            <a:ext cx="9144000" cy="597559"/>
          </a:xfrm>
        </p:spPr>
        <p:txBody>
          <a:bodyPr>
            <a:normAutofit/>
          </a:bodyPr>
          <a:lstStyle/>
          <a:p>
            <a:r>
              <a:rPr lang="en-US" sz="2800" dirty="0"/>
              <a:t>3) Year-over-Year (YoY) growth rate of total 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667C6-337E-5030-7386-C64ECB910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703386"/>
            <a:ext cx="4038600" cy="5964700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54738A-EA87-BD8F-3D90-DAD706936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703386"/>
            <a:ext cx="4038600" cy="5964700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0717E5-7346-F658-5CBE-486E4F1BE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169238"/>
            <a:ext cx="4038600" cy="15973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20DA94-8F2B-3D10-062F-73691A3EC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99200"/>
            <a:ext cx="4094017" cy="38715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2F0335-007A-F424-5E2E-96A26242C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4655485"/>
            <a:ext cx="4038600" cy="20126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6028F5-5D5B-687A-C184-C978604E8D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1199200"/>
            <a:ext cx="4038599" cy="335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675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7B944-6040-14AD-DA2B-5F167FCA4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631-E94E-D4DB-CD32-3818FC47D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2"/>
            <a:ext cx="9144000" cy="597559"/>
          </a:xfrm>
        </p:spPr>
        <p:txBody>
          <a:bodyPr>
            <a:normAutofit/>
          </a:bodyPr>
          <a:lstStyle/>
          <a:p>
            <a:r>
              <a:rPr lang="en-US" sz="2800" dirty="0"/>
              <a:t>4) Customer retention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59D2C-7CF3-D1A9-FDB2-DA8DC10800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703386"/>
            <a:ext cx="4038600" cy="5964700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772A5-1E54-A60F-54D4-E13563350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703386"/>
            <a:ext cx="4038600" cy="5964700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7779A6-C9E4-5B20-D305-7EF3F0926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792693"/>
            <a:ext cx="4038600" cy="9738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97B8C8-5677-23AF-7D8C-BF6D8C819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59339"/>
            <a:ext cx="4038600" cy="44348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8F4D51-3A67-E1B7-F7DE-84C963959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259339"/>
            <a:ext cx="4038600" cy="540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3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49A71-E1BA-DBE2-ABA1-10AC51C52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A98C-32C1-F495-7FE8-99A2D34D0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52"/>
            <a:ext cx="9144000" cy="597559"/>
          </a:xfrm>
        </p:spPr>
        <p:txBody>
          <a:bodyPr>
            <a:normAutofit/>
          </a:bodyPr>
          <a:lstStyle/>
          <a:p>
            <a:r>
              <a:rPr lang="en-US" sz="2800" dirty="0"/>
              <a:t>5) Top 3 customers by spending in each 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303FB-74E3-3570-AB3B-993F8045B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703386"/>
            <a:ext cx="4038600" cy="5964700"/>
          </a:xfrm>
        </p:spPr>
        <p:txBody>
          <a:bodyPr/>
          <a:lstStyle/>
          <a:p>
            <a:r>
              <a:rPr lang="en-US" dirty="0"/>
              <a:t>SQL Code: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5E825-7BAB-12C2-866D-89F39A01A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703386"/>
            <a:ext cx="4038600" cy="5964700"/>
          </a:xfrm>
        </p:spPr>
        <p:txBody>
          <a:bodyPr/>
          <a:lstStyle/>
          <a:p>
            <a:r>
              <a:rPr lang="en-US" dirty="0"/>
              <a:t>Python 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897135-F53A-1658-A1E3-765CE46A7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76799"/>
            <a:ext cx="4038600" cy="18897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5C2134-FF86-644E-6614-1F3F34D6F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76049"/>
            <a:ext cx="4038600" cy="3502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09D743-C058-EF02-AC88-00AC46ADC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5042647"/>
            <a:ext cx="4186518" cy="17298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B80118-4F36-F9A4-BCA4-E918D7498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188" y="1276049"/>
            <a:ext cx="4186530" cy="366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346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This project demonstrates full-stack analytical capability by combining SQL, Python, window functions, and validation methodology to transform raw transactional data into strategic business insights.</a:t>
            </a:r>
          </a:p>
          <a:p>
            <a:pPr algn="just"/>
            <a:r>
              <a:rPr lang="en-US" dirty="0"/>
              <a:t>Consistent cross-validation between SQL and Python ensures analytical accuracy and production-level reliability.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614</TotalTime>
  <Words>340</Words>
  <Application>Microsoft Office PowerPoint</Application>
  <PresentationFormat>On-screen Show (4:3)</PresentationFormat>
  <Paragraphs>61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SQL &amp; Python Business Analytics Project</vt:lpstr>
      <vt:lpstr>Project Objective</vt:lpstr>
      <vt:lpstr>BASIC  PROBLEMS</vt:lpstr>
      <vt:lpstr>1) List all unique cities where customers are located</vt:lpstr>
      <vt:lpstr>2) Count the number of orders placed in 2017</vt:lpstr>
      <vt:lpstr>3) Find the total sales per category</vt:lpstr>
      <vt:lpstr>4) Calculate the percentage of orders paid in installments</vt:lpstr>
      <vt:lpstr>5) Count the number of customers from each state</vt:lpstr>
      <vt:lpstr>INTERMEDIATE PROBLEMS</vt:lpstr>
      <vt:lpstr>1) Calculate the number of orders per month in 2018</vt:lpstr>
      <vt:lpstr>2) Find the average number of products per order, grouped by customer city</vt:lpstr>
      <vt:lpstr>3) Calculate the percentage of total revenue contributed by each product category</vt:lpstr>
      <vt:lpstr>4) Identify the correlation between product price and number of times purchased</vt:lpstr>
      <vt:lpstr>5) Calculate total revenue generated by each seller and rank them</vt:lpstr>
      <vt:lpstr>ADVANCE  PROBLEMS</vt:lpstr>
      <vt:lpstr>1) Moving average of order values for each customer</vt:lpstr>
      <vt:lpstr>2) Cumulative sales per month for each year</vt:lpstr>
      <vt:lpstr>3) Year-over-Year (YoY) growth rate of total sales</vt:lpstr>
      <vt:lpstr>4) Customer retention rate</vt:lpstr>
      <vt:lpstr>5) Top 3 customers by spending in each year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archi</dc:creator>
  <cp:keywords/>
  <dc:description>generated using python-pptx</dc:description>
  <cp:lastModifiedBy>archissave512@gmail.com</cp:lastModifiedBy>
  <cp:revision>9</cp:revision>
  <dcterms:created xsi:type="dcterms:W3CDTF">2013-01-27T09:14:16Z</dcterms:created>
  <dcterms:modified xsi:type="dcterms:W3CDTF">2026-02-26T09:00:52Z</dcterms:modified>
  <cp:category/>
</cp:coreProperties>
</file>